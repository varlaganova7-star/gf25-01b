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06_46C8F1FA.xml" ContentType="application/vnd.ms-powerpoint.comments+xml"/>
  <Override PartName="/ppt/notesSlides/notesSlide1.xml" ContentType="application/vnd.openxmlformats-officedocument.presentationml.notesSlide+xml"/>
  <Override PartName="/ppt/comments/modernComment_107_E773FFAD.xml" ContentType="application/vnd.ms-powerpoint.comments+xml"/>
  <Override PartName="/ppt/notesSlides/notesSlide2.xml" ContentType="application/vnd.openxmlformats-officedocument.presentationml.notesSlide+xml"/>
  <Override PartName="/ppt/comments/modernComment_10C_57010C79.xml" ContentType="application/vnd.ms-powerpoint.comments+xml"/>
  <Override PartName="/ppt/comments/modernComment_10D_51321F7.xml" ContentType="application/vnd.ms-powerpoint.comments+xml"/>
  <Override PartName="/ppt/comments/modernComment_10E_1DEB43C9.xml" ContentType="application/vnd.ms-powerpoint.comments+xml"/>
  <Override PartName="/ppt/comments/modernComment_10F_16BA86F4.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7"/>
  </p:notesMasterIdLst>
  <p:handoutMasterIdLst>
    <p:handoutMasterId r:id="rId18"/>
  </p:handoutMasterIdLst>
  <p:sldIdLst>
    <p:sldId id="256" r:id="rId2"/>
    <p:sldId id="259" r:id="rId3"/>
    <p:sldId id="264" r:id="rId4"/>
    <p:sldId id="265" r:id="rId5"/>
    <p:sldId id="260" r:id="rId6"/>
    <p:sldId id="262" r:id="rId7"/>
    <p:sldId id="263" r:id="rId8"/>
    <p:sldId id="261" r:id="rId9"/>
    <p:sldId id="272" r:id="rId10"/>
    <p:sldId id="266" r:id="rId11"/>
    <p:sldId id="267" r:id="rId12"/>
    <p:sldId id="268" r:id="rId13"/>
    <p:sldId id="269" r:id="rId14"/>
    <p:sldId id="270" r:id="rId15"/>
    <p:sldId id="271" r:id="rId16"/>
  </p:sldIdLst>
  <p:sldSz cx="12192000" cy="6858000"/>
  <p:notesSz cx="6858000" cy="9144000"/>
  <p:embeddedFontLst>
    <p:embeddedFont>
      <p:font typeface="Cera Pro" panose="00000500000000000000" charset="0"/>
      <p:regular r:id="rId19"/>
      <p:bold r:id="rId20"/>
    </p:embeddedFont>
    <p:embeddedFont>
      <p:font typeface="Montserrat" panose="00000500000000000000" pitchFamily="2" charset="-52"/>
      <p:regular r:id="rId21"/>
      <p:bold r:id="rId22"/>
      <p:italic r:id="rId23"/>
      <p:boldItalic r:id="rId24"/>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Титульники" id="{18AF2737-0085-4A6D-8A01-28402E905468}">
          <p14:sldIdLst>
            <p14:sldId id="256"/>
          </p14:sldIdLst>
        </p14:section>
        <p14:section name="Инфоблоки" id="{EA875C30-F70C-49EF-B6B2-F4CA264A5A8F}">
          <p14:sldIdLst>
            <p14:sldId id="259"/>
            <p14:sldId id="264"/>
            <p14:sldId id="265"/>
          </p14:sldIdLst>
        </p14:section>
        <p14:section name="Инфоблоки с фото/инфографикой" id="{FC03706F-891D-405E-897B-05170F7FAC55}">
          <p14:sldIdLst>
            <p14:sldId id="260"/>
            <p14:sldId id="262"/>
            <p14:sldId id="263"/>
            <p14:sldId id="261"/>
            <p14:sldId id="272"/>
          </p14:sldIdLst>
        </p14:section>
        <p14:section name="Только фото/инфографика" id="{A575CD96-5398-48FD-9C57-16E617AE69F6}">
          <p14:sldIdLst>
            <p14:sldId id="266"/>
            <p14:sldId id="267"/>
          </p14:sldIdLst>
        </p14:section>
        <p14:section name="Справочный материал" id="{5A98AAF8-8254-473D-9F20-54E7832092C3}">
          <p14:sldIdLst>
            <p14:sldId id="268"/>
            <p14:sldId id="269"/>
            <p14:sldId id="270"/>
            <p14:sldId id="271"/>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guide id="3" orient="horz" pos="2260" userDrawn="1">
          <p15:clr>
            <a:srgbClr val="A4A3A4"/>
          </p15:clr>
        </p15:guide>
        <p15:guide id="4" pos="39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9B2F359-BA3E-E0A1-A60E-9685C060124E}" name="Maxim bobylev" initials="Mb" userId="996af314cf96e2b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3E11"/>
    <a:srgbClr val="222322"/>
    <a:srgbClr val="575757"/>
    <a:srgbClr val="B3C614"/>
    <a:srgbClr val="FAB216"/>
    <a:srgbClr val="70AEDE"/>
    <a:srgbClr val="D13C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238" autoAdjust="0"/>
    <p:restoredTop sz="94660"/>
  </p:normalViewPr>
  <p:slideViewPr>
    <p:cSldViewPr snapToGrid="0">
      <p:cViewPr>
        <p:scale>
          <a:sx n="50" d="100"/>
          <a:sy n="50" d="100"/>
        </p:scale>
        <p:origin x="667" y="720"/>
      </p:cViewPr>
      <p:guideLst>
        <p:guide pos="3840"/>
        <p:guide orient="horz" pos="2160"/>
        <p:guide orient="horz" pos="2260"/>
        <p:guide pos="39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comments/modernComment_10C_57010C79.xml><?xml version="1.0" encoding="utf-8"?>
<p188:cmLst xmlns:a="http://schemas.openxmlformats.org/drawingml/2006/main" xmlns:r="http://schemas.openxmlformats.org/officeDocument/2006/relationships" xmlns:p188="http://schemas.microsoft.com/office/powerpoint/2018/8/main">
  <p188:cm id="{F8FA3D95-7ABD-4C96-90DF-FCB494641A82}" authorId="{19B2F359-BA3E-E0A1-A60E-9685C060124E}" created="2025-11-04T11:45:34.384">
    <pc:sldMkLst xmlns:pc="http://schemas.microsoft.com/office/powerpoint/2013/main/command">
      <pc:docMk/>
      <pc:sldMk cId="1459686521" sldId="268"/>
    </pc:sldMkLst>
    <p188:txBody>
      <a:bodyPr/>
      <a:lstStyle/>
      <a:p>
        <a:r>
          <a:rPr lang="ru-RU"/>
          <a:t>Чтобы использовать нужный цвет, выбирайте "Другие цвета" и вводите код цвета</a:t>
        </a:r>
      </a:p>
    </p188:txBody>
  </p188:cm>
</p188:cmLst>
</file>

<file path=ppt/comments/modernComment_10D_51321F7.xml><?xml version="1.0" encoding="utf-8"?>
<p188:cmLst xmlns:a="http://schemas.openxmlformats.org/drawingml/2006/main" xmlns:r="http://schemas.openxmlformats.org/officeDocument/2006/relationships" xmlns:p188="http://schemas.microsoft.com/office/powerpoint/2018/8/main">
  <p188:cm id="{4CB67631-D4AF-489F-9564-09718726B1A0}" authorId="{19B2F359-BA3E-E0A1-A60E-9685C060124E}" created="2025-11-04T11:44:00.062">
    <pc:sldMkLst xmlns:pc="http://schemas.microsoft.com/office/powerpoint/2013/main/command">
      <pc:docMk/>
      <pc:sldMk cId="85139959" sldId="269"/>
    </pc:sldMkLst>
    <p188:txBody>
      <a:bodyPr/>
      <a:lstStyle/>
      <a:p>
        <a:r>
          <a:rPr lang="ru-RU"/>
          <a:t>Шрифт для заголовков (от 20 до +=4 пт)</a:t>
        </a:r>
      </a:p>
    </p188:txBody>
  </p188:cm>
</p188:cmLst>
</file>

<file path=ppt/comments/modernComment_10E_1DEB43C9.xml><?xml version="1.0" encoding="utf-8"?>
<p188:cmLst xmlns:a="http://schemas.openxmlformats.org/drawingml/2006/main" xmlns:r="http://schemas.openxmlformats.org/officeDocument/2006/relationships" xmlns:p188="http://schemas.microsoft.com/office/powerpoint/2018/8/main">
  <p188:cm id="{DBCA2F19-9A65-461A-8071-3C7A6E9C774A}" authorId="{19B2F359-BA3E-E0A1-A60E-9685C060124E}" created="2025-11-04T11:44:28.720">
    <pc:sldMkLst xmlns:pc="http://schemas.microsoft.com/office/powerpoint/2013/main/command">
      <pc:docMk/>
      <pc:sldMk cId="501957577" sldId="270"/>
    </pc:sldMkLst>
    <p188:txBody>
      <a:bodyPr/>
      <a:lstStyle/>
      <a:p>
        <a:r>
          <a:rPr lang="ru-RU"/>
          <a:t>Шрифт для общего текста (от 6 до +=2 пт)</a:t>
        </a:r>
      </a:p>
    </p188:txBody>
  </p188:cm>
</p188:cmLst>
</file>

<file path=ppt/comments/modernComment_10F_16BA86F4.xml><?xml version="1.0" encoding="utf-8"?>
<p188:cmLst xmlns:a="http://schemas.openxmlformats.org/drawingml/2006/main" xmlns:r="http://schemas.openxmlformats.org/officeDocument/2006/relationships" xmlns:p188="http://schemas.microsoft.com/office/powerpoint/2018/8/main">
  <p188:cm id="{8D92AC0B-2585-4446-A7F0-0A607AD1EE17}" authorId="{19B2F359-BA3E-E0A1-A60E-9685C060124E}" created="2025-11-04T11:49:45.386">
    <ac:deMkLst xmlns:ac="http://schemas.microsoft.com/office/drawing/2013/main/command">
      <pc:docMk xmlns:pc="http://schemas.microsoft.com/office/powerpoint/2013/main/command"/>
      <pc:sldMk xmlns:pc="http://schemas.microsoft.com/office/powerpoint/2013/main/command" cId="381322996" sldId="271"/>
      <ac:picMk id="5" creationId="{443E4983-5F1E-3AF9-F703-3024AED22E0E}"/>
    </ac:deMkLst>
    <p188:txBody>
      <a:bodyPr/>
      <a:lstStyle/>
      <a:p>
        <a:r>
          <a:rPr lang="ru-RU"/>
          <a:t>У логотипов СФУ есть «безопасная зона», в которой не рекомендуется располагать что-либо</a:t>
        </a:r>
      </a:p>
    </p188:txBody>
  </p188:cm>
</p188:cmLst>
</file>

<file path=ppt/comments/modernComment_106_46C8F1FA.xml><?xml version="1.0" encoding="utf-8"?>
<p188:cmLst xmlns:a="http://schemas.openxmlformats.org/drawingml/2006/main" xmlns:r="http://schemas.openxmlformats.org/officeDocument/2006/relationships" xmlns:p188="http://schemas.microsoft.com/office/powerpoint/2018/8/main">
  <p188:cm id="{43AE149E-B269-4E6B-B5FD-84EC0B9AF6D8}" authorId="{19B2F359-BA3E-E0A1-A60E-9685C060124E}" created="2025-11-04T11:39:54.391">
    <pc:sldMkLst xmlns:pc="http://schemas.microsoft.com/office/powerpoint/2013/main/command">
      <pc:docMk/>
      <pc:sldMk cId="1187574266" sldId="262"/>
    </pc:sldMkLst>
    <p188:txBody>
      <a:bodyPr/>
      <a:lstStyle/>
      <a:p>
        <a:r>
          <a:rPr lang="ru-RU"/>
          <a:t>Вставляйте здесь .png картинки</a:t>
        </a:r>
      </a:p>
    </p188:txBody>
  </p188:cm>
</p188:cmLst>
</file>

<file path=ppt/comments/modernComment_107_E773FFAD.xml><?xml version="1.0" encoding="utf-8"?>
<p188:cmLst xmlns:a="http://schemas.openxmlformats.org/drawingml/2006/main" xmlns:r="http://schemas.openxmlformats.org/officeDocument/2006/relationships" xmlns:p188="http://schemas.microsoft.com/office/powerpoint/2018/8/main">
  <p188:cm id="{B2F3C40A-680B-4DCF-88F5-9724E3D23398}" authorId="{19B2F359-BA3E-E0A1-A60E-9685C060124E}" created="2025-11-04T11:40:26.990">
    <pc:sldMkLst xmlns:pc="http://schemas.microsoft.com/office/powerpoint/2013/main/command">
      <pc:docMk/>
      <pc:sldMk cId="3883138989" sldId="263"/>
    </pc:sldMkLst>
    <p188:txBody>
      <a:bodyPr/>
      <a:lstStyle/>
      <a:p>
        <a:r>
          <a:rPr lang="ru-RU"/>
          <a:t>Здесь вставляйте полноразмерные картинки</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F5252D2E-C7FA-A5B8-8E5E-538798D872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0A23DA86-681A-22EB-22B8-C3DE9D404D3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C67E58-294E-4624-8D0F-FCDC0051B823}" type="datetimeFigureOut">
              <a:rPr lang="ru-RU" smtClean="0"/>
              <a:t>04.11.2025</a:t>
            </a:fld>
            <a:endParaRPr lang="ru-RU"/>
          </a:p>
        </p:txBody>
      </p:sp>
      <p:sp>
        <p:nvSpPr>
          <p:cNvPr id="4" name="Нижний колонтитул 3">
            <a:extLst>
              <a:ext uri="{FF2B5EF4-FFF2-40B4-BE49-F238E27FC236}">
                <a16:creationId xmlns:a16="http://schemas.microsoft.com/office/drawing/2014/main" id="{4DF14F55-C98A-0794-05EC-22C52484988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0041B87A-481C-EC35-EF66-9637E397F55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E81103-437B-4034-97DC-5283D445BD12}" type="slidenum">
              <a:rPr lang="ru-RU" smtClean="0"/>
              <a:t>‹#›</a:t>
            </a:fld>
            <a:endParaRPr lang="ru-RU"/>
          </a:p>
        </p:txBody>
      </p:sp>
    </p:spTree>
    <p:extLst>
      <p:ext uri="{BB962C8B-B14F-4D97-AF65-F5344CB8AC3E}">
        <p14:creationId xmlns:p14="http://schemas.microsoft.com/office/powerpoint/2010/main" val="187521703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140F8B-E16C-464E-B4F6-F7F0077CF841}" type="datetimeFigureOut">
              <a:rPr lang="ru-RU" smtClean="0"/>
              <a:t>04.11.2025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705AE5-3A5B-4B04-86B8-1462E0075453}" type="slidenum">
              <a:rPr lang="ru-RU" smtClean="0"/>
              <a:t>‹#›</a:t>
            </a:fld>
            <a:endParaRPr lang="ru-RU"/>
          </a:p>
        </p:txBody>
      </p:sp>
    </p:spTree>
    <p:extLst>
      <p:ext uri="{BB962C8B-B14F-4D97-AF65-F5344CB8AC3E}">
        <p14:creationId xmlns:p14="http://schemas.microsoft.com/office/powerpoint/2010/main" val="146607784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2546404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6633731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9D7FB6-4130-DAA3-422C-789FD03D16BF}"/>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EABEBF1A-5A50-646D-BE86-0DDF59763B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4AF2BE86-7129-0A8B-44C0-58E62F63B0BF}"/>
              </a:ext>
            </a:extLst>
          </p:cNvPr>
          <p:cNvSpPr>
            <a:spLocks noGrp="1"/>
          </p:cNvSpPr>
          <p:nvPr>
            <p:ph type="dt" sz="half" idx="10"/>
          </p:nvPr>
        </p:nvSpPr>
        <p:spPr/>
        <p:txBody>
          <a:bodyPr/>
          <a:lstStyle/>
          <a:p>
            <a:fld id="{D202FA1A-199B-48C4-BD9B-A8EC727DA038}" type="datetimeFigureOut">
              <a:rPr lang="ru-RU" smtClean="0"/>
              <a:t>04.11.2025</a:t>
            </a:fld>
            <a:endParaRPr lang="ru-RU"/>
          </a:p>
        </p:txBody>
      </p:sp>
      <p:sp>
        <p:nvSpPr>
          <p:cNvPr id="5" name="Нижний колонтитул 4">
            <a:extLst>
              <a:ext uri="{FF2B5EF4-FFF2-40B4-BE49-F238E27FC236}">
                <a16:creationId xmlns:a16="http://schemas.microsoft.com/office/drawing/2014/main" id="{594CF7B2-40C7-D562-2F48-E0737D03176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3EB7626-8472-EFFD-5973-68113789A8A2}"/>
              </a:ext>
            </a:extLst>
          </p:cNvPr>
          <p:cNvSpPr>
            <a:spLocks noGrp="1"/>
          </p:cNvSpPr>
          <p:nvPr>
            <p:ph type="sldNum" sz="quarter" idx="12"/>
          </p:nvPr>
        </p:nvSpPr>
        <p:spPr/>
        <p:txBody>
          <a:bodyPr/>
          <a:lstStyle/>
          <a:p>
            <a:fld id="{A791A541-4F0B-4E13-87D2-E53C4E5C1ECD}" type="slidenum">
              <a:rPr lang="ru-RU" smtClean="0"/>
              <a:t>‹#›</a:t>
            </a:fld>
            <a:endParaRPr lang="ru-RU"/>
          </a:p>
        </p:txBody>
      </p:sp>
    </p:spTree>
    <p:extLst>
      <p:ext uri="{BB962C8B-B14F-4D97-AF65-F5344CB8AC3E}">
        <p14:creationId xmlns:p14="http://schemas.microsoft.com/office/powerpoint/2010/main" val="2583659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A89582-124F-E4D8-C520-9DB6E645642A}"/>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C2383DD4-326E-B655-8495-FE607F5E8E8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BC5158E-530D-5ED5-3971-15CFF05CF9BF}"/>
              </a:ext>
            </a:extLst>
          </p:cNvPr>
          <p:cNvSpPr>
            <a:spLocks noGrp="1"/>
          </p:cNvSpPr>
          <p:nvPr>
            <p:ph type="dt" sz="half" idx="10"/>
          </p:nvPr>
        </p:nvSpPr>
        <p:spPr/>
        <p:txBody>
          <a:bodyPr/>
          <a:lstStyle/>
          <a:p>
            <a:fld id="{D202FA1A-199B-48C4-BD9B-A8EC727DA038}" type="datetimeFigureOut">
              <a:rPr lang="ru-RU" smtClean="0"/>
              <a:t>04.11.2025</a:t>
            </a:fld>
            <a:endParaRPr lang="ru-RU"/>
          </a:p>
        </p:txBody>
      </p:sp>
      <p:sp>
        <p:nvSpPr>
          <p:cNvPr id="5" name="Нижний колонтитул 4">
            <a:extLst>
              <a:ext uri="{FF2B5EF4-FFF2-40B4-BE49-F238E27FC236}">
                <a16:creationId xmlns:a16="http://schemas.microsoft.com/office/drawing/2014/main" id="{8EAA5EEE-010C-1CD2-B33C-98E16D52996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134CFB5-CCB9-AB58-6748-A9668086F3FF}"/>
              </a:ext>
            </a:extLst>
          </p:cNvPr>
          <p:cNvSpPr>
            <a:spLocks noGrp="1"/>
          </p:cNvSpPr>
          <p:nvPr>
            <p:ph type="sldNum" sz="quarter" idx="12"/>
          </p:nvPr>
        </p:nvSpPr>
        <p:spPr/>
        <p:txBody>
          <a:bodyPr/>
          <a:lstStyle/>
          <a:p>
            <a:fld id="{A791A541-4F0B-4E13-87D2-E53C4E5C1ECD}" type="slidenum">
              <a:rPr lang="ru-RU" smtClean="0"/>
              <a:t>‹#›</a:t>
            </a:fld>
            <a:endParaRPr lang="ru-RU"/>
          </a:p>
        </p:txBody>
      </p:sp>
    </p:spTree>
    <p:extLst>
      <p:ext uri="{BB962C8B-B14F-4D97-AF65-F5344CB8AC3E}">
        <p14:creationId xmlns:p14="http://schemas.microsoft.com/office/powerpoint/2010/main" val="3468521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CA97B0-6F3F-9EBE-DAF9-A3C374F7E10B}"/>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D37F1351-0F1F-134A-75CC-800B082184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68A4374C-C8C8-850E-62ED-8BE1E7D5B03A}"/>
              </a:ext>
            </a:extLst>
          </p:cNvPr>
          <p:cNvSpPr>
            <a:spLocks noGrp="1"/>
          </p:cNvSpPr>
          <p:nvPr>
            <p:ph type="dt" sz="half" idx="10"/>
          </p:nvPr>
        </p:nvSpPr>
        <p:spPr/>
        <p:txBody>
          <a:bodyPr/>
          <a:lstStyle/>
          <a:p>
            <a:fld id="{D202FA1A-199B-48C4-BD9B-A8EC727DA038}" type="datetimeFigureOut">
              <a:rPr lang="ru-RU" smtClean="0"/>
              <a:t>04.11.2025</a:t>
            </a:fld>
            <a:endParaRPr lang="ru-RU"/>
          </a:p>
        </p:txBody>
      </p:sp>
      <p:sp>
        <p:nvSpPr>
          <p:cNvPr id="5" name="Нижний колонтитул 4">
            <a:extLst>
              <a:ext uri="{FF2B5EF4-FFF2-40B4-BE49-F238E27FC236}">
                <a16:creationId xmlns:a16="http://schemas.microsoft.com/office/drawing/2014/main" id="{101D864F-B412-2C74-92D6-6F9149D4031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67AAA51-DA1B-2EAA-D4D8-B884305FA85E}"/>
              </a:ext>
            </a:extLst>
          </p:cNvPr>
          <p:cNvSpPr>
            <a:spLocks noGrp="1"/>
          </p:cNvSpPr>
          <p:nvPr>
            <p:ph type="sldNum" sz="quarter" idx="12"/>
          </p:nvPr>
        </p:nvSpPr>
        <p:spPr/>
        <p:txBody>
          <a:bodyPr/>
          <a:lstStyle/>
          <a:p>
            <a:fld id="{A791A541-4F0B-4E13-87D2-E53C4E5C1ECD}" type="slidenum">
              <a:rPr lang="ru-RU" smtClean="0"/>
              <a:t>‹#›</a:t>
            </a:fld>
            <a:endParaRPr lang="ru-RU"/>
          </a:p>
        </p:txBody>
      </p:sp>
    </p:spTree>
    <p:extLst>
      <p:ext uri="{BB962C8B-B14F-4D97-AF65-F5344CB8AC3E}">
        <p14:creationId xmlns:p14="http://schemas.microsoft.com/office/powerpoint/2010/main" val="3534784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9CBCDF-A321-31CE-EC0B-2CD5C79FFA96}"/>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BD61B37E-DEF1-5D80-ACE0-C498AE8BC365}"/>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EB55E38E-F15D-81B0-5B99-FF4EE7461079}"/>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B61BAE73-0E34-B991-E020-47977C5D15F9}"/>
              </a:ext>
            </a:extLst>
          </p:cNvPr>
          <p:cNvSpPr>
            <a:spLocks noGrp="1"/>
          </p:cNvSpPr>
          <p:nvPr>
            <p:ph type="dt" sz="half" idx="10"/>
          </p:nvPr>
        </p:nvSpPr>
        <p:spPr/>
        <p:txBody>
          <a:bodyPr/>
          <a:lstStyle/>
          <a:p>
            <a:fld id="{D202FA1A-199B-48C4-BD9B-A8EC727DA038}" type="datetimeFigureOut">
              <a:rPr lang="ru-RU" smtClean="0"/>
              <a:t>04.11.2025</a:t>
            </a:fld>
            <a:endParaRPr lang="ru-RU"/>
          </a:p>
        </p:txBody>
      </p:sp>
      <p:sp>
        <p:nvSpPr>
          <p:cNvPr id="6" name="Нижний колонтитул 5">
            <a:extLst>
              <a:ext uri="{FF2B5EF4-FFF2-40B4-BE49-F238E27FC236}">
                <a16:creationId xmlns:a16="http://schemas.microsoft.com/office/drawing/2014/main" id="{D939D634-FD78-DB7B-BCCE-B98C801EEAF2}"/>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B97FE88-BA7B-BB16-3493-A3B81BEE7240}"/>
              </a:ext>
            </a:extLst>
          </p:cNvPr>
          <p:cNvSpPr>
            <a:spLocks noGrp="1"/>
          </p:cNvSpPr>
          <p:nvPr>
            <p:ph type="sldNum" sz="quarter" idx="12"/>
          </p:nvPr>
        </p:nvSpPr>
        <p:spPr/>
        <p:txBody>
          <a:bodyPr/>
          <a:lstStyle/>
          <a:p>
            <a:fld id="{A791A541-4F0B-4E13-87D2-E53C4E5C1ECD}" type="slidenum">
              <a:rPr lang="ru-RU" smtClean="0"/>
              <a:t>‹#›</a:t>
            </a:fld>
            <a:endParaRPr lang="ru-RU"/>
          </a:p>
        </p:txBody>
      </p:sp>
    </p:spTree>
    <p:extLst>
      <p:ext uri="{BB962C8B-B14F-4D97-AF65-F5344CB8AC3E}">
        <p14:creationId xmlns:p14="http://schemas.microsoft.com/office/powerpoint/2010/main" val="1604385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C3F617-9863-4985-A464-C6F2A8400606}"/>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59D3C659-B78E-80B1-2B56-6340835405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A8049FCC-C4B4-9C89-0CB1-A08BA15BC78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A607AF56-DEAC-7A18-D7FF-AC7CBF0A57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CDBC12B8-7BA9-3270-E69A-AA2F472D5BA3}"/>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5C8F4DE1-B11A-7A0F-C62A-4D3F22873AA8}"/>
              </a:ext>
            </a:extLst>
          </p:cNvPr>
          <p:cNvSpPr>
            <a:spLocks noGrp="1"/>
          </p:cNvSpPr>
          <p:nvPr>
            <p:ph type="dt" sz="half" idx="10"/>
          </p:nvPr>
        </p:nvSpPr>
        <p:spPr/>
        <p:txBody>
          <a:bodyPr/>
          <a:lstStyle/>
          <a:p>
            <a:fld id="{D202FA1A-199B-48C4-BD9B-A8EC727DA038}" type="datetimeFigureOut">
              <a:rPr lang="ru-RU" smtClean="0"/>
              <a:t>04.11.2025</a:t>
            </a:fld>
            <a:endParaRPr lang="ru-RU"/>
          </a:p>
        </p:txBody>
      </p:sp>
      <p:sp>
        <p:nvSpPr>
          <p:cNvPr id="8" name="Нижний колонтитул 7">
            <a:extLst>
              <a:ext uri="{FF2B5EF4-FFF2-40B4-BE49-F238E27FC236}">
                <a16:creationId xmlns:a16="http://schemas.microsoft.com/office/drawing/2014/main" id="{503C2030-677C-9A53-A705-4A7BB27E624A}"/>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5CF6846F-4F57-D4B9-B4FA-DB693A8A8FFC}"/>
              </a:ext>
            </a:extLst>
          </p:cNvPr>
          <p:cNvSpPr>
            <a:spLocks noGrp="1"/>
          </p:cNvSpPr>
          <p:nvPr>
            <p:ph type="sldNum" sz="quarter" idx="12"/>
          </p:nvPr>
        </p:nvSpPr>
        <p:spPr/>
        <p:txBody>
          <a:bodyPr/>
          <a:lstStyle/>
          <a:p>
            <a:fld id="{A791A541-4F0B-4E13-87D2-E53C4E5C1ECD}" type="slidenum">
              <a:rPr lang="ru-RU" smtClean="0"/>
              <a:t>‹#›</a:t>
            </a:fld>
            <a:endParaRPr lang="ru-RU"/>
          </a:p>
        </p:txBody>
      </p:sp>
    </p:spTree>
    <p:extLst>
      <p:ext uri="{BB962C8B-B14F-4D97-AF65-F5344CB8AC3E}">
        <p14:creationId xmlns:p14="http://schemas.microsoft.com/office/powerpoint/2010/main" val="1206722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71012B-DF34-C9CC-6AE8-0359453952F7}"/>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83B2639A-0F63-3A4B-4577-94456B87C88D}"/>
              </a:ext>
            </a:extLst>
          </p:cNvPr>
          <p:cNvSpPr>
            <a:spLocks noGrp="1"/>
          </p:cNvSpPr>
          <p:nvPr>
            <p:ph type="dt" sz="half" idx="10"/>
          </p:nvPr>
        </p:nvSpPr>
        <p:spPr/>
        <p:txBody>
          <a:bodyPr/>
          <a:lstStyle/>
          <a:p>
            <a:fld id="{D202FA1A-199B-48C4-BD9B-A8EC727DA038}" type="datetimeFigureOut">
              <a:rPr lang="ru-RU" smtClean="0"/>
              <a:t>04.11.2025</a:t>
            </a:fld>
            <a:endParaRPr lang="ru-RU"/>
          </a:p>
        </p:txBody>
      </p:sp>
      <p:sp>
        <p:nvSpPr>
          <p:cNvPr id="4" name="Нижний колонтитул 3">
            <a:extLst>
              <a:ext uri="{FF2B5EF4-FFF2-40B4-BE49-F238E27FC236}">
                <a16:creationId xmlns:a16="http://schemas.microsoft.com/office/drawing/2014/main" id="{095C7A75-45D1-1A58-83C9-4D0487BD0F5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2E6D8F4-3907-24A8-588A-2B2A29D9BCA7}"/>
              </a:ext>
            </a:extLst>
          </p:cNvPr>
          <p:cNvSpPr>
            <a:spLocks noGrp="1"/>
          </p:cNvSpPr>
          <p:nvPr>
            <p:ph type="sldNum" sz="quarter" idx="12"/>
          </p:nvPr>
        </p:nvSpPr>
        <p:spPr/>
        <p:txBody>
          <a:bodyPr/>
          <a:lstStyle/>
          <a:p>
            <a:fld id="{A791A541-4F0B-4E13-87D2-E53C4E5C1ECD}" type="slidenum">
              <a:rPr lang="ru-RU" smtClean="0"/>
              <a:t>‹#›</a:t>
            </a:fld>
            <a:endParaRPr lang="ru-RU"/>
          </a:p>
        </p:txBody>
      </p:sp>
    </p:spTree>
    <p:extLst>
      <p:ext uri="{BB962C8B-B14F-4D97-AF65-F5344CB8AC3E}">
        <p14:creationId xmlns:p14="http://schemas.microsoft.com/office/powerpoint/2010/main" val="1789862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809449AD-7819-83DF-58B3-B841F46D4D64}"/>
              </a:ext>
            </a:extLst>
          </p:cNvPr>
          <p:cNvSpPr>
            <a:spLocks noGrp="1"/>
          </p:cNvSpPr>
          <p:nvPr>
            <p:ph type="dt" sz="half" idx="10"/>
          </p:nvPr>
        </p:nvSpPr>
        <p:spPr/>
        <p:txBody>
          <a:bodyPr/>
          <a:lstStyle/>
          <a:p>
            <a:fld id="{D202FA1A-199B-48C4-BD9B-A8EC727DA038}" type="datetimeFigureOut">
              <a:rPr lang="ru-RU" smtClean="0"/>
              <a:t>04.11.2025</a:t>
            </a:fld>
            <a:endParaRPr lang="ru-RU"/>
          </a:p>
        </p:txBody>
      </p:sp>
      <p:sp>
        <p:nvSpPr>
          <p:cNvPr id="3" name="Нижний колонтитул 2">
            <a:extLst>
              <a:ext uri="{FF2B5EF4-FFF2-40B4-BE49-F238E27FC236}">
                <a16:creationId xmlns:a16="http://schemas.microsoft.com/office/drawing/2014/main" id="{9139E265-789B-EFBA-3ACC-DB7F1EC17F02}"/>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8BE6712F-ADDB-FE5A-AC68-B321F45F33D9}"/>
              </a:ext>
            </a:extLst>
          </p:cNvPr>
          <p:cNvSpPr>
            <a:spLocks noGrp="1"/>
          </p:cNvSpPr>
          <p:nvPr>
            <p:ph type="sldNum" sz="quarter" idx="12"/>
          </p:nvPr>
        </p:nvSpPr>
        <p:spPr/>
        <p:txBody>
          <a:bodyPr/>
          <a:lstStyle/>
          <a:p>
            <a:fld id="{A791A541-4F0B-4E13-87D2-E53C4E5C1ECD}" type="slidenum">
              <a:rPr lang="ru-RU" smtClean="0"/>
              <a:t>‹#›</a:t>
            </a:fld>
            <a:endParaRPr lang="ru-RU"/>
          </a:p>
        </p:txBody>
      </p:sp>
    </p:spTree>
    <p:extLst>
      <p:ext uri="{BB962C8B-B14F-4D97-AF65-F5344CB8AC3E}">
        <p14:creationId xmlns:p14="http://schemas.microsoft.com/office/powerpoint/2010/main" val="2585434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66FE71-8F63-9988-FF81-E25A41FCFC15}"/>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84A0DDFA-BB2B-D113-376A-CFBDD6DBD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C2B56C68-C9A0-8B28-FE61-AC83E12D1A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EB74ED0-CA79-B6DC-A91F-AA85E3539D8B}"/>
              </a:ext>
            </a:extLst>
          </p:cNvPr>
          <p:cNvSpPr>
            <a:spLocks noGrp="1"/>
          </p:cNvSpPr>
          <p:nvPr>
            <p:ph type="dt" sz="half" idx="10"/>
          </p:nvPr>
        </p:nvSpPr>
        <p:spPr/>
        <p:txBody>
          <a:bodyPr/>
          <a:lstStyle/>
          <a:p>
            <a:fld id="{D202FA1A-199B-48C4-BD9B-A8EC727DA038}" type="datetimeFigureOut">
              <a:rPr lang="ru-RU" smtClean="0"/>
              <a:t>04.11.2025</a:t>
            </a:fld>
            <a:endParaRPr lang="ru-RU"/>
          </a:p>
        </p:txBody>
      </p:sp>
      <p:sp>
        <p:nvSpPr>
          <p:cNvPr id="6" name="Нижний колонтитул 5">
            <a:extLst>
              <a:ext uri="{FF2B5EF4-FFF2-40B4-BE49-F238E27FC236}">
                <a16:creationId xmlns:a16="http://schemas.microsoft.com/office/drawing/2014/main" id="{4A089590-6868-48E0-C306-74984E341D60}"/>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44549C5-0209-1A11-29D3-CDDAA1B2CBCD}"/>
              </a:ext>
            </a:extLst>
          </p:cNvPr>
          <p:cNvSpPr>
            <a:spLocks noGrp="1"/>
          </p:cNvSpPr>
          <p:nvPr>
            <p:ph type="sldNum" sz="quarter" idx="12"/>
          </p:nvPr>
        </p:nvSpPr>
        <p:spPr/>
        <p:txBody>
          <a:bodyPr/>
          <a:lstStyle/>
          <a:p>
            <a:fld id="{A791A541-4F0B-4E13-87D2-E53C4E5C1ECD}" type="slidenum">
              <a:rPr lang="ru-RU" smtClean="0"/>
              <a:t>‹#›</a:t>
            </a:fld>
            <a:endParaRPr lang="ru-RU"/>
          </a:p>
        </p:txBody>
      </p:sp>
    </p:spTree>
    <p:extLst>
      <p:ext uri="{BB962C8B-B14F-4D97-AF65-F5344CB8AC3E}">
        <p14:creationId xmlns:p14="http://schemas.microsoft.com/office/powerpoint/2010/main" val="1633055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30AB05-F834-8AFE-A4B7-91A454BE38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BAA75D0C-B40A-7C47-5097-C91DB30405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11C75408-D6AB-5694-3022-C598A2DBE7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E3F5DEBC-513C-EF4B-FB89-8E929CDDD287}"/>
              </a:ext>
            </a:extLst>
          </p:cNvPr>
          <p:cNvSpPr>
            <a:spLocks noGrp="1"/>
          </p:cNvSpPr>
          <p:nvPr>
            <p:ph type="dt" sz="half" idx="10"/>
          </p:nvPr>
        </p:nvSpPr>
        <p:spPr/>
        <p:txBody>
          <a:bodyPr/>
          <a:lstStyle/>
          <a:p>
            <a:fld id="{D202FA1A-199B-48C4-BD9B-A8EC727DA038}" type="datetimeFigureOut">
              <a:rPr lang="ru-RU" smtClean="0"/>
              <a:t>04.11.2025</a:t>
            </a:fld>
            <a:endParaRPr lang="ru-RU"/>
          </a:p>
        </p:txBody>
      </p:sp>
      <p:sp>
        <p:nvSpPr>
          <p:cNvPr id="6" name="Нижний колонтитул 5">
            <a:extLst>
              <a:ext uri="{FF2B5EF4-FFF2-40B4-BE49-F238E27FC236}">
                <a16:creationId xmlns:a16="http://schemas.microsoft.com/office/drawing/2014/main" id="{2DCADA3C-7718-608A-91D1-C4676DF95BCD}"/>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A055146-702E-73B7-40BF-08C228E34F1C}"/>
              </a:ext>
            </a:extLst>
          </p:cNvPr>
          <p:cNvSpPr>
            <a:spLocks noGrp="1"/>
          </p:cNvSpPr>
          <p:nvPr>
            <p:ph type="sldNum" sz="quarter" idx="12"/>
          </p:nvPr>
        </p:nvSpPr>
        <p:spPr/>
        <p:txBody>
          <a:bodyPr/>
          <a:lstStyle/>
          <a:p>
            <a:fld id="{A791A541-4F0B-4E13-87D2-E53C4E5C1ECD}" type="slidenum">
              <a:rPr lang="ru-RU" smtClean="0"/>
              <a:t>‹#›</a:t>
            </a:fld>
            <a:endParaRPr lang="ru-RU"/>
          </a:p>
        </p:txBody>
      </p:sp>
    </p:spTree>
    <p:extLst>
      <p:ext uri="{BB962C8B-B14F-4D97-AF65-F5344CB8AC3E}">
        <p14:creationId xmlns:p14="http://schemas.microsoft.com/office/powerpoint/2010/main" val="2309180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91E0DB-DB56-4D93-663A-59A383CB6A52}"/>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65728E92-8C25-0C30-4420-7E6E32E0DBF2}"/>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0009BC0-1513-5DC2-A7A3-8AF074D9B47A}"/>
              </a:ext>
            </a:extLst>
          </p:cNvPr>
          <p:cNvSpPr>
            <a:spLocks noGrp="1"/>
          </p:cNvSpPr>
          <p:nvPr>
            <p:ph type="dt" sz="half" idx="10"/>
          </p:nvPr>
        </p:nvSpPr>
        <p:spPr/>
        <p:txBody>
          <a:bodyPr/>
          <a:lstStyle/>
          <a:p>
            <a:fld id="{D202FA1A-199B-48C4-BD9B-A8EC727DA038}" type="datetimeFigureOut">
              <a:rPr lang="ru-RU" smtClean="0"/>
              <a:t>04.11.2025</a:t>
            </a:fld>
            <a:endParaRPr lang="ru-RU"/>
          </a:p>
        </p:txBody>
      </p:sp>
      <p:sp>
        <p:nvSpPr>
          <p:cNvPr id="5" name="Нижний колонтитул 4">
            <a:extLst>
              <a:ext uri="{FF2B5EF4-FFF2-40B4-BE49-F238E27FC236}">
                <a16:creationId xmlns:a16="http://schemas.microsoft.com/office/drawing/2014/main" id="{49020616-DC10-3D6D-4657-D28E48E9D02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95091C6-5879-5C6E-9DB8-64DFA69B05DE}"/>
              </a:ext>
            </a:extLst>
          </p:cNvPr>
          <p:cNvSpPr>
            <a:spLocks noGrp="1"/>
          </p:cNvSpPr>
          <p:nvPr>
            <p:ph type="sldNum" sz="quarter" idx="12"/>
          </p:nvPr>
        </p:nvSpPr>
        <p:spPr/>
        <p:txBody>
          <a:bodyPr/>
          <a:lstStyle/>
          <a:p>
            <a:fld id="{A791A541-4F0B-4E13-87D2-E53C4E5C1ECD}" type="slidenum">
              <a:rPr lang="ru-RU" smtClean="0"/>
              <a:t>‹#›</a:t>
            </a:fld>
            <a:endParaRPr lang="ru-RU"/>
          </a:p>
        </p:txBody>
      </p:sp>
    </p:spTree>
    <p:extLst>
      <p:ext uri="{BB962C8B-B14F-4D97-AF65-F5344CB8AC3E}">
        <p14:creationId xmlns:p14="http://schemas.microsoft.com/office/powerpoint/2010/main" val="2534629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5C6B819F-B588-6660-E717-3FB7E8A72DF4}"/>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1828656F-FA77-95BD-62A0-3D9A12D9DA7F}"/>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0023A26-A74F-B1A2-9B28-F533E33D9ED8}"/>
              </a:ext>
            </a:extLst>
          </p:cNvPr>
          <p:cNvSpPr>
            <a:spLocks noGrp="1"/>
          </p:cNvSpPr>
          <p:nvPr>
            <p:ph type="dt" sz="half" idx="10"/>
          </p:nvPr>
        </p:nvSpPr>
        <p:spPr/>
        <p:txBody>
          <a:bodyPr/>
          <a:lstStyle/>
          <a:p>
            <a:fld id="{D202FA1A-199B-48C4-BD9B-A8EC727DA038}" type="datetimeFigureOut">
              <a:rPr lang="ru-RU" smtClean="0"/>
              <a:t>04.11.2025</a:t>
            </a:fld>
            <a:endParaRPr lang="ru-RU"/>
          </a:p>
        </p:txBody>
      </p:sp>
      <p:sp>
        <p:nvSpPr>
          <p:cNvPr id="5" name="Нижний колонтитул 4">
            <a:extLst>
              <a:ext uri="{FF2B5EF4-FFF2-40B4-BE49-F238E27FC236}">
                <a16:creationId xmlns:a16="http://schemas.microsoft.com/office/drawing/2014/main" id="{6B4FA1D5-AF73-585B-E2BA-EFAF4EDE00A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EDCB4B3-E4FE-A228-8936-E59B7769752C}"/>
              </a:ext>
            </a:extLst>
          </p:cNvPr>
          <p:cNvSpPr>
            <a:spLocks noGrp="1"/>
          </p:cNvSpPr>
          <p:nvPr>
            <p:ph type="sldNum" sz="quarter" idx="12"/>
          </p:nvPr>
        </p:nvSpPr>
        <p:spPr/>
        <p:txBody>
          <a:bodyPr/>
          <a:lstStyle/>
          <a:p>
            <a:fld id="{A791A541-4F0B-4E13-87D2-E53C4E5C1ECD}" type="slidenum">
              <a:rPr lang="ru-RU" smtClean="0"/>
              <a:t>‹#›</a:t>
            </a:fld>
            <a:endParaRPr lang="ru-RU"/>
          </a:p>
        </p:txBody>
      </p:sp>
    </p:spTree>
    <p:extLst>
      <p:ext uri="{BB962C8B-B14F-4D97-AF65-F5344CB8AC3E}">
        <p14:creationId xmlns:p14="http://schemas.microsoft.com/office/powerpoint/2010/main" val="4292832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1E71BE-D95B-CBE5-012C-A75853341D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1E425640-CEFF-3598-0B42-38B670A8F3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7CB9AF6-CF70-74FE-C971-E0AAB1C951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02FA1A-199B-48C4-BD9B-A8EC727DA038}" type="datetimeFigureOut">
              <a:rPr lang="ru-RU" smtClean="0"/>
              <a:t>04.11.2025</a:t>
            </a:fld>
            <a:endParaRPr lang="ru-RU"/>
          </a:p>
        </p:txBody>
      </p:sp>
      <p:sp>
        <p:nvSpPr>
          <p:cNvPr id="5" name="Нижний колонтитул 4">
            <a:extLst>
              <a:ext uri="{FF2B5EF4-FFF2-40B4-BE49-F238E27FC236}">
                <a16:creationId xmlns:a16="http://schemas.microsoft.com/office/drawing/2014/main" id="{7D65A964-ACC4-9AA6-C25B-49CD024C26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B62D9998-D615-B648-2EE2-2867416BF4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91A541-4F0B-4E13-87D2-E53C4E5C1ECD}" type="slidenum">
              <a:rPr lang="ru-RU" smtClean="0"/>
              <a:t>‹#›</a:t>
            </a:fld>
            <a:endParaRPr lang="ru-RU"/>
          </a:p>
        </p:txBody>
      </p:sp>
    </p:spTree>
    <p:extLst>
      <p:ext uri="{BB962C8B-B14F-4D97-AF65-F5344CB8AC3E}">
        <p14:creationId xmlns:p14="http://schemas.microsoft.com/office/powerpoint/2010/main" val="829092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6_46C8F1FA.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7_E773FFAD.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0C_57010C7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0D_51321F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0E_1DEB43C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8/10/relationships/comments" Target="../comments/modernComment_10F_16BA86F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13C16"/>
        </a:solidFill>
        <a:effectLst/>
      </p:bgPr>
    </p:bg>
    <p:spTree>
      <p:nvGrpSpPr>
        <p:cNvPr id="1" name=""/>
        <p:cNvGrpSpPr/>
        <p:nvPr/>
      </p:nvGrpSpPr>
      <p:grpSpPr>
        <a:xfrm>
          <a:off x="0" y="0"/>
          <a:ext cx="0" cy="0"/>
          <a:chOff x="0" y="0"/>
          <a:chExt cx="0" cy="0"/>
        </a:xfrm>
      </p:grpSpPr>
      <p:grpSp>
        <p:nvGrpSpPr>
          <p:cNvPr id="36" name="Группа 35">
            <a:extLst>
              <a:ext uri="{FF2B5EF4-FFF2-40B4-BE49-F238E27FC236}">
                <a16:creationId xmlns:a16="http://schemas.microsoft.com/office/drawing/2014/main" id="{D989D149-3FB5-1B4E-1C4D-F38188740341}"/>
              </a:ext>
            </a:extLst>
          </p:cNvPr>
          <p:cNvGrpSpPr/>
          <p:nvPr/>
        </p:nvGrpSpPr>
        <p:grpSpPr>
          <a:xfrm>
            <a:off x="-61468" y="-196770"/>
            <a:ext cx="12291568" cy="7108110"/>
            <a:chOff x="-61468" y="-196770"/>
            <a:chExt cx="12291568" cy="7108110"/>
          </a:xfrm>
        </p:grpSpPr>
        <p:sp>
          <p:nvSpPr>
            <p:cNvPr id="33" name="Полилиния: фигура 32">
              <a:extLst>
                <a:ext uri="{FF2B5EF4-FFF2-40B4-BE49-F238E27FC236}">
                  <a16:creationId xmlns:a16="http://schemas.microsoft.com/office/drawing/2014/main" id="{54C4FECB-E9A2-0919-5C63-2BC8435FEC22}"/>
                </a:ext>
              </a:extLst>
            </p:cNvPr>
            <p:cNvSpPr/>
            <p:nvPr/>
          </p:nvSpPr>
          <p:spPr>
            <a:xfrm>
              <a:off x="9890760" y="4364736"/>
              <a:ext cx="2148840" cy="2314194"/>
            </a:xfrm>
            <a:custGeom>
              <a:avLst/>
              <a:gdLst>
                <a:gd name="connsiteX0" fmla="*/ 739140 w 2148840"/>
                <a:gd name="connsiteY0" fmla="*/ 0 h 2202180"/>
                <a:gd name="connsiteX1" fmla="*/ 2148840 w 2148840"/>
                <a:gd name="connsiteY1" fmla="*/ 777240 h 2202180"/>
                <a:gd name="connsiteX2" fmla="*/ 0 w 2148840"/>
                <a:gd name="connsiteY2" fmla="*/ 2202180 h 2202180"/>
                <a:gd name="connsiteX3" fmla="*/ 739140 w 2148840"/>
                <a:gd name="connsiteY3" fmla="*/ 0 h 2202180"/>
              </a:gdLst>
              <a:ahLst/>
              <a:cxnLst>
                <a:cxn ang="0">
                  <a:pos x="connsiteX0" y="connsiteY0"/>
                </a:cxn>
                <a:cxn ang="0">
                  <a:pos x="connsiteX1" y="connsiteY1"/>
                </a:cxn>
                <a:cxn ang="0">
                  <a:pos x="connsiteX2" y="connsiteY2"/>
                </a:cxn>
                <a:cxn ang="0">
                  <a:pos x="connsiteX3" y="connsiteY3"/>
                </a:cxn>
              </a:cxnLst>
              <a:rect l="l" t="t" r="r" b="b"/>
              <a:pathLst>
                <a:path w="2148840" h="2202180">
                  <a:moveTo>
                    <a:pt x="739140" y="0"/>
                  </a:moveTo>
                  <a:lnTo>
                    <a:pt x="2148840" y="777240"/>
                  </a:lnTo>
                  <a:lnTo>
                    <a:pt x="0" y="2202180"/>
                  </a:lnTo>
                  <a:lnTo>
                    <a:pt x="739140" y="0"/>
                  </a:lnTo>
                  <a:close/>
                </a:path>
              </a:pathLst>
            </a:custGeom>
            <a:solidFill>
              <a:srgbClr val="E63E11"/>
            </a:solidFill>
            <a:ln>
              <a:noFill/>
            </a:ln>
            <a:effectLst>
              <a:outerShdw blurRad="76200" dist="88900" dir="10800000" algn="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5" name="Полилиния: фигура 34">
              <a:extLst>
                <a:ext uri="{FF2B5EF4-FFF2-40B4-BE49-F238E27FC236}">
                  <a16:creationId xmlns:a16="http://schemas.microsoft.com/office/drawing/2014/main" id="{F631407A-725A-FDE2-5349-4FAF90E2A0D2}"/>
                </a:ext>
              </a:extLst>
            </p:cNvPr>
            <p:cNvSpPr/>
            <p:nvPr/>
          </p:nvSpPr>
          <p:spPr>
            <a:xfrm>
              <a:off x="9486900" y="5242560"/>
              <a:ext cx="2743200" cy="1668780"/>
            </a:xfrm>
            <a:custGeom>
              <a:avLst/>
              <a:gdLst>
                <a:gd name="connsiteX0" fmla="*/ 99060 w 2743200"/>
                <a:gd name="connsiteY0" fmla="*/ 1607820 h 1668780"/>
                <a:gd name="connsiteX1" fmla="*/ 2545080 w 2743200"/>
                <a:gd name="connsiteY1" fmla="*/ 0 h 1668780"/>
                <a:gd name="connsiteX2" fmla="*/ 2743200 w 2743200"/>
                <a:gd name="connsiteY2" fmla="*/ 121920 h 1668780"/>
                <a:gd name="connsiteX3" fmla="*/ 2735580 w 2743200"/>
                <a:gd name="connsiteY3" fmla="*/ 1668780 h 1668780"/>
                <a:gd name="connsiteX4" fmla="*/ 0 w 2743200"/>
                <a:gd name="connsiteY4" fmla="*/ 1668780 h 1668780"/>
                <a:gd name="connsiteX5" fmla="*/ 99060 w 2743200"/>
                <a:gd name="connsiteY5" fmla="*/ 1607820 h 166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3200" h="1668780">
                  <a:moveTo>
                    <a:pt x="99060" y="1607820"/>
                  </a:moveTo>
                  <a:lnTo>
                    <a:pt x="2545080" y="0"/>
                  </a:lnTo>
                  <a:lnTo>
                    <a:pt x="2743200" y="121920"/>
                  </a:lnTo>
                  <a:lnTo>
                    <a:pt x="2735580" y="1668780"/>
                  </a:lnTo>
                  <a:lnTo>
                    <a:pt x="0" y="1668780"/>
                  </a:lnTo>
                  <a:lnTo>
                    <a:pt x="99060" y="1607820"/>
                  </a:lnTo>
                  <a:close/>
                </a:path>
              </a:pathLst>
            </a:custGeom>
            <a:solidFill>
              <a:srgbClr val="E63E11"/>
            </a:solidFill>
            <a:ln>
              <a:noFill/>
            </a:ln>
            <a:effectLst>
              <a:outerShdw blurRad="76200" dist="88900" dir="16200000"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Полилиния: фигура 31">
              <a:extLst>
                <a:ext uri="{FF2B5EF4-FFF2-40B4-BE49-F238E27FC236}">
                  <a16:creationId xmlns:a16="http://schemas.microsoft.com/office/drawing/2014/main" id="{7ABF7AEF-6D76-2FAE-7369-F989EFA88CE0}"/>
                </a:ext>
              </a:extLst>
            </p:cNvPr>
            <p:cNvSpPr/>
            <p:nvPr/>
          </p:nvSpPr>
          <p:spPr>
            <a:xfrm>
              <a:off x="9281160" y="2199190"/>
              <a:ext cx="2948940" cy="3169100"/>
            </a:xfrm>
            <a:custGeom>
              <a:avLst/>
              <a:gdLst>
                <a:gd name="connsiteX0" fmla="*/ 0 w 2948940"/>
                <a:gd name="connsiteY0" fmla="*/ 1409700 h 3048000"/>
                <a:gd name="connsiteX1" fmla="*/ 2941320 w 2948940"/>
                <a:gd name="connsiteY1" fmla="*/ 0 h 3048000"/>
                <a:gd name="connsiteX2" fmla="*/ 2948940 w 2948940"/>
                <a:gd name="connsiteY2" fmla="*/ 3048000 h 3048000"/>
                <a:gd name="connsiteX3" fmla="*/ 0 w 2948940"/>
                <a:gd name="connsiteY3" fmla="*/ 1409700 h 3048000"/>
              </a:gdLst>
              <a:ahLst/>
              <a:cxnLst>
                <a:cxn ang="0">
                  <a:pos x="connsiteX0" y="connsiteY0"/>
                </a:cxn>
                <a:cxn ang="0">
                  <a:pos x="connsiteX1" y="connsiteY1"/>
                </a:cxn>
                <a:cxn ang="0">
                  <a:pos x="connsiteX2" y="connsiteY2"/>
                </a:cxn>
                <a:cxn ang="0">
                  <a:pos x="connsiteX3" y="connsiteY3"/>
                </a:cxn>
              </a:cxnLst>
              <a:rect l="l" t="t" r="r" b="b"/>
              <a:pathLst>
                <a:path w="2948940" h="3048000">
                  <a:moveTo>
                    <a:pt x="0" y="1409700"/>
                  </a:moveTo>
                  <a:lnTo>
                    <a:pt x="2941320" y="0"/>
                  </a:lnTo>
                  <a:lnTo>
                    <a:pt x="2948940" y="3048000"/>
                  </a:lnTo>
                  <a:lnTo>
                    <a:pt x="0" y="1409700"/>
                  </a:lnTo>
                  <a:close/>
                </a:path>
              </a:pathLst>
            </a:custGeom>
            <a:solidFill>
              <a:srgbClr val="E63E11"/>
            </a:solidFill>
            <a:ln>
              <a:noFill/>
            </a:ln>
            <a:effectLst>
              <a:outerShdw blurRad="76200" dist="88900" dir="5400000" algn="t"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7" name="Полилиния: фигура 26">
              <a:extLst>
                <a:ext uri="{FF2B5EF4-FFF2-40B4-BE49-F238E27FC236}">
                  <a16:creationId xmlns:a16="http://schemas.microsoft.com/office/drawing/2014/main" id="{363B6567-3D15-A322-4707-C050CCEC606A}"/>
                </a:ext>
              </a:extLst>
            </p:cNvPr>
            <p:cNvSpPr/>
            <p:nvPr/>
          </p:nvSpPr>
          <p:spPr>
            <a:xfrm>
              <a:off x="-61468" y="-44704"/>
              <a:ext cx="8006080" cy="4409440"/>
            </a:xfrm>
            <a:custGeom>
              <a:avLst/>
              <a:gdLst>
                <a:gd name="connsiteX0" fmla="*/ 0 w 8006080"/>
                <a:gd name="connsiteY0" fmla="*/ 0 h 4409440"/>
                <a:gd name="connsiteX1" fmla="*/ 5963920 w 8006080"/>
                <a:gd name="connsiteY1" fmla="*/ 10160 h 4409440"/>
                <a:gd name="connsiteX2" fmla="*/ 8006080 w 8006080"/>
                <a:gd name="connsiteY2" fmla="*/ 4409440 h 4409440"/>
                <a:gd name="connsiteX3" fmla="*/ 0 w 8006080"/>
                <a:gd name="connsiteY3" fmla="*/ 955040 h 4409440"/>
                <a:gd name="connsiteX4" fmla="*/ 0 w 8006080"/>
                <a:gd name="connsiteY4" fmla="*/ 0 h 4409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6080" h="4409440">
                  <a:moveTo>
                    <a:pt x="0" y="0"/>
                  </a:moveTo>
                  <a:lnTo>
                    <a:pt x="5963920" y="10160"/>
                  </a:lnTo>
                  <a:lnTo>
                    <a:pt x="8006080" y="4409440"/>
                  </a:lnTo>
                  <a:lnTo>
                    <a:pt x="0" y="955040"/>
                  </a:lnTo>
                  <a:lnTo>
                    <a:pt x="0" y="0"/>
                  </a:lnTo>
                  <a:close/>
                </a:path>
              </a:pathLst>
            </a:custGeom>
            <a:solidFill>
              <a:srgbClr val="E63E11"/>
            </a:solidFill>
            <a:ln>
              <a:noFill/>
            </a:ln>
            <a:effectLst>
              <a:outerShdw blurRad="76200" dist="88900" dir="8100000" algn="t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Полилиния: фигура 29">
              <a:extLst>
                <a:ext uri="{FF2B5EF4-FFF2-40B4-BE49-F238E27FC236}">
                  <a16:creationId xmlns:a16="http://schemas.microsoft.com/office/drawing/2014/main" id="{77B562EF-D379-4AE1-F5E5-FEDD7447A04B}"/>
                </a:ext>
              </a:extLst>
            </p:cNvPr>
            <p:cNvSpPr/>
            <p:nvPr/>
          </p:nvSpPr>
          <p:spPr>
            <a:xfrm>
              <a:off x="7944612" y="-196770"/>
              <a:ext cx="4285488" cy="4561506"/>
            </a:xfrm>
            <a:custGeom>
              <a:avLst/>
              <a:gdLst>
                <a:gd name="connsiteX0" fmla="*/ 0 w 4285488"/>
                <a:gd name="connsiteY0" fmla="*/ 4443984 h 4443984"/>
                <a:gd name="connsiteX1" fmla="*/ 2011680 w 4285488"/>
                <a:gd name="connsiteY1" fmla="*/ 0 h 4443984"/>
                <a:gd name="connsiteX2" fmla="*/ 4285488 w 4285488"/>
                <a:gd name="connsiteY2" fmla="*/ 0 h 4443984"/>
                <a:gd name="connsiteX3" fmla="*/ 4279392 w 4285488"/>
                <a:gd name="connsiteY3" fmla="*/ 2407920 h 4443984"/>
                <a:gd name="connsiteX4" fmla="*/ 0 w 4285488"/>
                <a:gd name="connsiteY4" fmla="*/ 4443984 h 4443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85488" h="4443984">
                  <a:moveTo>
                    <a:pt x="0" y="4443984"/>
                  </a:moveTo>
                  <a:lnTo>
                    <a:pt x="2011680" y="0"/>
                  </a:lnTo>
                  <a:lnTo>
                    <a:pt x="4285488" y="0"/>
                  </a:lnTo>
                  <a:lnTo>
                    <a:pt x="4279392" y="2407920"/>
                  </a:lnTo>
                  <a:lnTo>
                    <a:pt x="0" y="4443984"/>
                  </a:lnTo>
                  <a:close/>
                </a:path>
              </a:pathLst>
            </a:custGeom>
            <a:solidFill>
              <a:srgbClr val="E63E11"/>
            </a:solidFill>
            <a:ln>
              <a:noFill/>
            </a:ln>
            <a:effectLst>
              <a:outerShdw blurRad="76200" dist="88900" dir="2700000" algn="tl"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Полилиния: фигура 27">
              <a:extLst>
                <a:ext uri="{FF2B5EF4-FFF2-40B4-BE49-F238E27FC236}">
                  <a16:creationId xmlns:a16="http://schemas.microsoft.com/office/drawing/2014/main" id="{D0355F99-FDBD-B714-FB56-BFF7202EA9B4}"/>
                </a:ext>
              </a:extLst>
            </p:cNvPr>
            <p:cNvSpPr/>
            <p:nvPr/>
          </p:nvSpPr>
          <p:spPr>
            <a:xfrm>
              <a:off x="5826760" y="-79248"/>
              <a:ext cx="4107180" cy="4443984"/>
            </a:xfrm>
            <a:custGeom>
              <a:avLst/>
              <a:gdLst>
                <a:gd name="connsiteX0" fmla="*/ 2110740 w 4107180"/>
                <a:gd name="connsiteY0" fmla="*/ 4419600 h 4419600"/>
                <a:gd name="connsiteX1" fmla="*/ 4107180 w 4107180"/>
                <a:gd name="connsiteY1" fmla="*/ 0 h 4419600"/>
                <a:gd name="connsiteX2" fmla="*/ 0 w 4107180"/>
                <a:gd name="connsiteY2" fmla="*/ 7620 h 4419600"/>
                <a:gd name="connsiteX3" fmla="*/ 2110740 w 4107180"/>
                <a:gd name="connsiteY3" fmla="*/ 4419600 h 4419600"/>
              </a:gdLst>
              <a:ahLst/>
              <a:cxnLst>
                <a:cxn ang="0">
                  <a:pos x="connsiteX0" y="connsiteY0"/>
                </a:cxn>
                <a:cxn ang="0">
                  <a:pos x="connsiteX1" y="connsiteY1"/>
                </a:cxn>
                <a:cxn ang="0">
                  <a:pos x="connsiteX2" y="connsiteY2"/>
                </a:cxn>
                <a:cxn ang="0">
                  <a:pos x="connsiteX3" y="connsiteY3"/>
                </a:cxn>
              </a:cxnLst>
              <a:rect l="l" t="t" r="r" b="b"/>
              <a:pathLst>
                <a:path w="4107180" h="4419600">
                  <a:moveTo>
                    <a:pt x="2110740" y="4419600"/>
                  </a:moveTo>
                  <a:lnTo>
                    <a:pt x="4107180" y="0"/>
                  </a:lnTo>
                  <a:lnTo>
                    <a:pt x="0" y="7620"/>
                  </a:lnTo>
                  <a:lnTo>
                    <a:pt x="2110740" y="4419600"/>
                  </a:lnTo>
                  <a:close/>
                </a:path>
              </a:pathLst>
            </a:custGeom>
            <a:solidFill>
              <a:srgbClr val="E63E11"/>
            </a:solidFill>
            <a:ln>
              <a:noFill/>
            </a:ln>
            <a:effectLst>
              <a:outerShdw blurRad="76200" dist="139700" dir="5400000" algn="t"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pic>
        <p:nvPicPr>
          <p:cNvPr id="38" name="Рисунок 37">
            <a:extLst>
              <a:ext uri="{FF2B5EF4-FFF2-40B4-BE49-F238E27FC236}">
                <a16:creationId xmlns:a16="http://schemas.microsoft.com/office/drawing/2014/main" id="{42DE3839-6C3F-5BCF-3EFC-FC3752D804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100" y="36618"/>
            <a:ext cx="1732392" cy="1732392"/>
          </a:xfrm>
          <a:prstGeom prst="rect">
            <a:avLst/>
          </a:prstGeom>
        </p:spPr>
      </p:pic>
      <p:pic>
        <p:nvPicPr>
          <p:cNvPr id="40" name="Рисунок 39">
            <a:extLst>
              <a:ext uri="{FF2B5EF4-FFF2-40B4-BE49-F238E27FC236}">
                <a16:creationId xmlns:a16="http://schemas.microsoft.com/office/drawing/2014/main" id="{79633A8E-14A7-4C10-F19A-DEC1C41ACF5B}"/>
              </a:ext>
            </a:extLst>
          </p:cNvPr>
          <p:cNvPicPr>
            <a:picLocks noChangeAspect="1"/>
          </p:cNvPicPr>
          <p:nvPr/>
        </p:nvPicPr>
        <p:blipFill>
          <a:blip r:embed="rId3"/>
          <a:stretch>
            <a:fillRect/>
          </a:stretch>
        </p:blipFill>
        <p:spPr>
          <a:xfrm>
            <a:off x="3165712" y="574539"/>
            <a:ext cx="1918352" cy="656549"/>
          </a:xfrm>
          <a:prstGeom prst="rect">
            <a:avLst/>
          </a:prstGeom>
        </p:spPr>
      </p:pic>
      <p:sp>
        <p:nvSpPr>
          <p:cNvPr id="42" name="TextBox 41">
            <a:extLst>
              <a:ext uri="{FF2B5EF4-FFF2-40B4-BE49-F238E27FC236}">
                <a16:creationId xmlns:a16="http://schemas.microsoft.com/office/drawing/2014/main" id="{7DFF4417-52CF-7608-7266-1F0AA5127ACD}"/>
              </a:ext>
            </a:extLst>
          </p:cNvPr>
          <p:cNvSpPr txBox="1"/>
          <p:nvPr/>
        </p:nvSpPr>
        <p:spPr>
          <a:xfrm>
            <a:off x="845100" y="3306686"/>
            <a:ext cx="6488954" cy="954107"/>
          </a:xfrm>
          <a:prstGeom prst="rect">
            <a:avLst/>
          </a:prstGeom>
          <a:noFill/>
        </p:spPr>
        <p:txBody>
          <a:bodyPr wrap="square" rtlCol="0">
            <a:spAutoFit/>
          </a:bodyPr>
          <a:lstStyle/>
          <a:p>
            <a:r>
              <a:rPr lang="ru-RU" sz="2800" b="1" kern="0" dirty="0">
                <a:solidFill>
                  <a:schemeClr val="bg1"/>
                </a:solidFill>
                <a:latin typeface="Cera Pro" panose="00000500000000000000" pitchFamily="2" charset="0"/>
              </a:rPr>
              <a:t>Основы долговременного хранения и архивации текстовых ресурсов</a:t>
            </a:r>
            <a:r>
              <a:rPr lang="ru-RU" sz="2000" b="1" kern="0" dirty="0">
                <a:solidFill>
                  <a:schemeClr val="bg1"/>
                </a:solidFill>
                <a:latin typeface="Cera Pro" panose="00000500000000000000" pitchFamily="2" charset="0"/>
              </a:rPr>
              <a:t>.</a:t>
            </a:r>
          </a:p>
        </p:txBody>
      </p:sp>
      <p:sp>
        <p:nvSpPr>
          <p:cNvPr id="43" name="TextBox 42">
            <a:extLst>
              <a:ext uri="{FF2B5EF4-FFF2-40B4-BE49-F238E27FC236}">
                <a16:creationId xmlns:a16="http://schemas.microsoft.com/office/drawing/2014/main" id="{E08546DF-7755-561E-2735-E6E97DE13E67}"/>
              </a:ext>
            </a:extLst>
          </p:cNvPr>
          <p:cNvSpPr txBox="1"/>
          <p:nvPr/>
        </p:nvSpPr>
        <p:spPr>
          <a:xfrm>
            <a:off x="810289" y="4753146"/>
            <a:ext cx="7134323" cy="461665"/>
          </a:xfrm>
          <a:prstGeom prst="rect">
            <a:avLst/>
          </a:prstGeom>
          <a:noFill/>
        </p:spPr>
        <p:txBody>
          <a:bodyPr wrap="square" rtlCol="0">
            <a:spAutoFit/>
          </a:bodyPr>
          <a:lstStyle/>
          <a:p>
            <a:r>
              <a:rPr lang="ru-RU" sz="2400" b="1" dirty="0">
                <a:solidFill>
                  <a:schemeClr val="bg1"/>
                </a:solidFill>
                <a:latin typeface="Cera Pro" panose="00000500000000000000" pitchFamily="2" charset="0"/>
              </a:rPr>
              <a:t>ГФ25-01Б</a:t>
            </a:r>
          </a:p>
        </p:txBody>
      </p:sp>
      <p:sp>
        <p:nvSpPr>
          <p:cNvPr id="44" name="TextBox 43">
            <a:extLst>
              <a:ext uri="{FF2B5EF4-FFF2-40B4-BE49-F238E27FC236}">
                <a16:creationId xmlns:a16="http://schemas.microsoft.com/office/drawing/2014/main" id="{FFE2B3C4-FF8F-68DC-273F-E3BF5F2B0D12}"/>
              </a:ext>
            </a:extLst>
          </p:cNvPr>
          <p:cNvSpPr txBox="1"/>
          <p:nvPr/>
        </p:nvSpPr>
        <p:spPr>
          <a:xfrm>
            <a:off x="845100" y="5698686"/>
            <a:ext cx="3670339" cy="584775"/>
          </a:xfrm>
          <a:prstGeom prst="rect">
            <a:avLst/>
          </a:prstGeom>
          <a:noFill/>
        </p:spPr>
        <p:txBody>
          <a:bodyPr wrap="square" rtlCol="0">
            <a:spAutoFit/>
          </a:bodyPr>
          <a:lstStyle/>
          <a:p>
            <a:r>
              <a:rPr lang="ru-RU" sz="1600" dirty="0">
                <a:solidFill>
                  <a:schemeClr val="bg1"/>
                </a:solidFill>
                <a:latin typeface="DIN Pro Medium" panose="020B0604020101020102" pitchFamily="34" charset="0"/>
                <a:cs typeface="DIN Pro Medium" panose="020B0604020101020102" pitchFamily="34" charset="0"/>
              </a:rPr>
              <a:t>Кичко Елисей, </a:t>
            </a:r>
            <a:r>
              <a:rPr lang="ru-RU" sz="1600" dirty="0" err="1">
                <a:solidFill>
                  <a:schemeClr val="bg1"/>
                </a:solidFill>
                <a:latin typeface="DIN Pro Medium" panose="020B0604020101020102" pitchFamily="34" charset="0"/>
                <a:cs typeface="DIN Pro Medium" panose="020B0604020101020102" pitchFamily="34" charset="0"/>
              </a:rPr>
              <a:t>Макмудов</a:t>
            </a:r>
            <a:r>
              <a:rPr lang="ru-RU" sz="1600" dirty="0">
                <a:solidFill>
                  <a:schemeClr val="bg1"/>
                </a:solidFill>
                <a:latin typeface="DIN Pro Medium" panose="020B0604020101020102" pitchFamily="34" charset="0"/>
                <a:cs typeface="DIN Pro Medium" panose="020B0604020101020102" pitchFamily="34" charset="0"/>
              </a:rPr>
              <a:t> Эльвин, Бобкова Виктория</a:t>
            </a:r>
          </a:p>
        </p:txBody>
      </p:sp>
    </p:spTree>
    <p:extLst>
      <p:ext uri="{BB962C8B-B14F-4D97-AF65-F5344CB8AC3E}">
        <p14:creationId xmlns:p14="http://schemas.microsoft.com/office/powerpoint/2010/main" val="2919346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Группа 10">
            <a:extLst>
              <a:ext uri="{FF2B5EF4-FFF2-40B4-BE49-F238E27FC236}">
                <a16:creationId xmlns:a16="http://schemas.microsoft.com/office/drawing/2014/main" id="{16C241F6-204E-9A21-DD54-A7D9EA676E41}"/>
              </a:ext>
            </a:extLst>
          </p:cNvPr>
          <p:cNvGrpSpPr/>
          <p:nvPr/>
        </p:nvGrpSpPr>
        <p:grpSpPr>
          <a:xfrm>
            <a:off x="7571232" y="-162560"/>
            <a:ext cx="4671568" cy="7081520"/>
            <a:chOff x="7571232" y="-162560"/>
            <a:chExt cx="4671568" cy="7081520"/>
          </a:xfrm>
        </p:grpSpPr>
        <p:sp>
          <p:nvSpPr>
            <p:cNvPr id="10" name="Полилиния: фигура 9">
              <a:extLst>
                <a:ext uri="{FF2B5EF4-FFF2-40B4-BE49-F238E27FC236}">
                  <a16:creationId xmlns:a16="http://schemas.microsoft.com/office/drawing/2014/main" id="{003C4F57-E86C-0DAD-E3DB-BEBCB55BABBC}"/>
                </a:ext>
              </a:extLst>
            </p:cNvPr>
            <p:cNvSpPr/>
            <p:nvPr/>
          </p:nvSpPr>
          <p:spPr>
            <a:xfrm>
              <a:off x="10170160" y="5486400"/>
              <a:ext cx="1879600" cy="1422400"/>
            </a:xfrm>
            <a:custGeom>
              <a:avLst/>
              <a:gdLst>
                <a:gd name="connsiteX0" fmla="*/ 0 w 1879600"/>
                <a:gd name="connsiteY0" fmla="*/ 1412240 h 1422400"/>
                <a:gd name="connsiteX1" fmla="*/ 487680 w 1879600"/>
                <a:gd name="connsiteY1" fmla="*/ 0 h 1422400"/>
                <a:gd name="connsiteX2" fmla="*/ 1879600 w 1879600"/>
                <a:gd name="connsiteY2" fmla="*/ 690880 h 1422400"/>
                <a:gd name="connsiteX3" fmla="*/ 792480 w 1879600"/>
                <a:gd name="connsiteY3" fmla="*/ 1422400 h 1422400"/>
                <a:gd name="connsiteX4" fmla="*/ 0 w 1879600"/>
                <a:gd name="connsiteY4" fmla="*/ 1412240 h 142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9600" h="1422400">
                  <a:moveTo>
                    <a:pt x="0" y="1412240"/>
                  </a:moveTo>
                  <a:lnTo>
                    <a:pt x="487680" y="0"/>
                  </a:lnTo>
                  <a:lnTo>
                    <a:pt x="1879600" y="690880"/>
                  </a:lnTo>
                  <a:lnTo>
                    <a:pt x="792480" y="1422400"/>
                  </a:lnTo>
                  <a:lnTo>
                    <a:pt x="0" y="1412240"/>
                  </a:lnTo>
                  <a:close/>
                </a:path>
              </a:pathLst>
            </a:custGeom>
            <a:solidFill>
              <a:srgbClr val="E63E11"/>
            </a:solidFill>
            <a:ln>
              <a:noFill/>
            </a:ln>
            <a:effectLst>
              <a:outerShdw blurRad="76200" dist="88900" dir="10800000" algn="r"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Полилиния: фигура 8">
              <a:extLst>
                <a:ext uri="{FF2B5EF4-FFF2-40B4-BE49-F238E27FC236}">
                  <a16:creationId xmlns:a16="http://schemas.microsoft.com/office/drawing/2014/main" id="{9BD4BA1B-F0A7-EB83-B1C6-FF257C351B2B}"/>
                </a:ext>
              </a:extLst>
            </p:cNvPr>
            <p:cNvSpPr/>
            <p:nvPr/>
          </p:nvSpPr>
          <p:spPr>
            <a:xfrm>
              <a:off x="10922000" y="6024880"/>
              <a:ext cx="1320800" cy="894080"/>
            </a:xfrm>
            <a:custGeom>
              <a:avLst/>
              <a:gdLst>
                <a:gd name="connsiteX0" fmla="*/ 81280 w 1320800"/>
                <a:gd name="connsiteY0" fmla="*/ 833120 h 894080"/>
                <a:gd name="connsiteX1" fmla="*/ 1320800 w 1320800"/>
                <a:gd name="connsiteY1" fmla="*/ 0 h 894080"/>
                <a:gd name="connsiteX2" fmla="*/ 1310640 w 1320800"/>
                <a:gd name="connsiteY2" fmla="*/ 883920 h 894080"/>
                <a:gd name="connsiteX3" fmla="*/ 0 w 1320800"/>
                <a:gd name="connsiteY3" fmla="*/ 894080 h 894080"/>
                <a:gd name="connsiteX4" fmla="*/ 81280 w 1320800"/>
                <a:gd name="connsiteY4" fmla="*/ 833120 h 894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0800" h="894080">
                  <a:moveTo>
                    <a:pt x="81280" y="833120"/>
                  </a:moveTo>
                  <a:lnTo>
                    <a:pt x="1320800" y="0"/>
                  </a:lnTo>
                  <a:lnTo>
                    <a:pt x="1310640" y="883920"/>
                  </a:lnTo>
                  <a:lnTo>
                    <a:pt x="0" y="894080"/>
                  </a:lnTo>
                  <a:lnTo>
                    <a:pt x="81280" y="833120"/>
                  </a:lnTo>
                  <a:close/>
                </a:path>
              </a:pathLst>
            </a:custGeom>
            <a:solidFill>
              <a:srgbClr val="E63E11"/>
            </a:solidFill>
            <a:ln>
              <a:noFill/>
            </a:ln>
            <a:effectLst>
              <a:outerShdw blurRad="76200" dist="88900" dir="16200000"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Полилиния: фигура 7">
              <a:extLst>
                <a:ext uri="{FF2B5EF4-FFF2-40B4-BE49-F238E27FC236}">
                  <a16:creationId xmlns:a16="http://schemas.microsoft.com/office/drawing/2014/main" id="{0E3D55D9-B8C3-9A20-99B0-FC2FDA609C2E}"/>
                </a:ext>
              </a:extLst>
            </p:cNvPr>
            <p:cNvSpPr/>
            <p:nvPr/>
          </p:nvSpPr>
          <p:spPr>
            <a:xfrm>
              <a:off x="9174480" y="3163824"/>
              <a:ext cx="3048000" cy="3184144"/>
            </a:xfrm>
            <a:custGeom>
              <a:avLst/>
              <a:gdLst>
                <a:gd name="connsiteX0" fmla="*/ 0 w 3048000"/>
                <a:gd name="connsiteY0" fmla="*/ 1595120 h 3068320"/>
                <a:gd name="connsiteX1" fmla="*/ 3048000 w 3048000"/>
                <a:gd name="connsiteY1" fmla="*/ 0 h 3068320"/>
                <a:gd name="connsiteX2" fmla="*/ 3037840 w 3048000"/>
                <a:gd name="connsiteY2" fmla="*/ 3068320 h 3068320"/>
                <a:gd name="connsiteX3" fmla="*/ 0 w 3048000"/>
                <a:gd name="connsiteY3" fmla="*/ 1595120 h 3068320"/>
              </a:gdLst>
              <a:ahLst/>
              <a:cxnLst>
                <a:cxn ang="0">
                  <a:pos x="connsiteX0" y="connsiteY0"/>
                </a:cxn>
                <a:cxn ang="0">
                  <a:pos x="connsiteX1" y="connsiteY1"/>
                </a:cxn>
                <a:cxn ang="0">
                  <a:pos x="connsiteX2" y="connsiteY2"/>
                </a:cxn>
                <a:cxn ang="0">
                  <a:pos x="connsiteX3" y="connsiteY3"/>
                </a:cxn>
              </a:cxnLst>
              <a:rect l="l" t="t" r="r" b="b"/>
              <a:pathLst>
                <a:path w="3048000" h="3068320">
                  <a:moveTo>
                    <a:pt x="0" y="1595120"/>
                  </a:moveTo>
                  <a:lnTo>
                    <a:pt x="3048000" y="0"/>
                  </a:lnTo>
                  <a:cubicBezTo>
                    <a:pt x="3044613" y="1022773"/>
                    <a:pt x="3041227" y="2045547"/>
                    <a:pt x="3037840" y="3068320"/>
                  </a:cubicBezTo>
                  <a:lnTo>
                    <a:pt x="0" y="1595120"/>
                  </a:lnTo>
                  <a:close/>
                </a:path>
              </a:pathLst>
            </a:custGeom>
            <a:solidFill>
              <a:srgbClr val="E63E11"/>
            </a:solidFill>
            <a:ln>
              <a:noFill/>
            </a:ln>
            <a:effectLst>
              <a:outerShdw blurRad="76200" dist="88900" dir="5400000" algn="t"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олилиния: фигура 6">
              <a:extLst>
                <a:ext uri="{FF2B5EF4-FFF2-40B4-BE49-F238E27FC236}">
                  <a16:creationId xmlns:a16="http://schemas.microsoft.com/office/drawing/2014/main" id="{CE06E7CD-1735-7728-32F7-FF0D47381A1D}"/>
                </a:ext>
              </a:extLst>
            </p:cNvPr>
            <p:cNvSpPr/>
            <p:nvPr/>
          </p:nvSpPr>
          <p:spPr>
            <a:xfrm>
              <a:off x="9174480" y="-162560"/>
              <a:ext cx="3048000" cy="4998720"/>
            </a:xfrm>
            <a:custGeom>
              <a:avLst/>
              <a:gdLst>
                <a:gd name="connsiteX0" fmla="*/ 0 w 3048000"/>
                <a:gd name="connsiteY0" fmla="*/ 4856480 h 4856480"/>
                <a:gd name="connsiteX1" fmla="*/ 2479040 w 3048000"/>
                <a:gd name="connsiteY1" fmla="*/ 0 h 4856480"/>
                <a:gd name="connsiteX2" fmla="*/ 3048000 w 3048000"/>
                <a:gd name="connsiteY2" fmla="*/ 0 h 4856480"/>
                <a:gd name="connsiteX3" fmla="*/ 3048000 w 3048000"/>
                <a:gd name="connsiteY3" fmla="*/ 3261360 h 4856480"/>
                <a:gd name="connsiteX4" fmla="*/ 0 w 3048000"/>
                <a:gd name="connsiteY4" fmla="*/ 4856480 h 4856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0" h="4856480">
                  <a:moveTo>
                    <a:pt x="0" y="4856480"/>
                  </a:moveTo>
                  <a:lnTo>
                    <a:pt x="2479040" y="0"/>
                  </a:lnTo>
                  <a:lnTo>
                    <a:pt x="3048000" y="0"/>
                  </a:lnTo>
                  <a:lnTo>
                    <a:pt x="3048000" y="3261360"/>
                  </a:lnTo>
                  <a:lnTo>
                    <a:pt x="0" y="4856480"/>
                  </a:lnTo>
                  <a:close/>
                </a:path>
              </a:pathLst>
            </a:custGeom>
            <a:solidFill>
              <a:srgbClr val="E63E11"/>
            </a:solidFill>
            <a:ln>
              <a:noFill/>
            </a:ln>
            <a:effectLst>
              <a:outerShdw blurRad="76200" dist="88900" dir="5400000" algn="t" rotWithShape="0">
                <a:prstClr val="black">
                  <a:alpha val="3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олилиния: фигура 5">
              <a:extLst>
                <a:ext uri="{FF2B5EF4-FFF2-40B4-BE49-F238E27FC236}">
                  <a16:creationId xmlns:a16="http://schemas.microsoft.com/office/drawing/2014/main" id="{0F1DCDF3-1C6A-A1EE-2563-0BA78A3617AB}"/>
                </a:ext>
              </a:extLst>
            </p:cNvPr>
            <p:cNvSpPr/>
            <p:nvPr/>
          </p:nvSpPr>
          <p:spPr>
            <a:xfrm>
              <a:off x="7571232" y="-30480"/>
              <a:ext cx="4053840" cy="4866640"/>
            </a:xfrm>
            <a:custGeom>
              <a:avLst/>
              <a:gdLst>
                <a:gd name="connsiteX0" fmla="*/ 0 w 4053840"/>
                <a:gd name="connsiteY0" fmla="*/ 0 h 4866640"/>
                <a:gd name="connsiteX1" fmla="*/ 4053840 w 4053840"/>
                <a:gd name="connsiteY1" fmla="*/ 20320 h 4866640"/>
                <a:gd name="connsiteX2" fmla="*/ 1605280 w 4053840"/>
                <a:gd name="connsiteY2" fmla="*/ 4866640 h 4866640"/>
                <a:gd name="connsiteX3" fmla="*/ 0 w 4053840"/>
                <a:gd name="connsiteY3" fmla="*/ 0 h 4866640"/>
              </a:gdLst>
              <a:ahLst/>
              <a:cxnLst>
                <a:cxn ang="0">
                  <a:pos x="connsiteX0" y="connsiteY0"/>
                </a:cxn>
                <a:cxn ang="0">
                  <a:pos x="connsiteX1" y="connsiteY1"/>
                </a:cxn>
                <a:cxn ang="0">
                  <a:pos x="connsiteX2" y="connsiteY2"/>
                </a:cxn>
                <a:cxn ang="0">
                  <a:pos x="connsiteX3" y="connsiteY3"/>
                </a:cxn>
              </a:cxnLst>
              <a:rect l="l" t="t" r="r" b="b"/>
              <a:pathLst>
                <a:path w="4053840" h="4866640">
                  <a:moveTo>
                    <a:pt x="0" y="0"/>
                  </a:moveTo>
                  <a:lnTo>
                    <a:pt x="4053840" y="20320"/>
                  </a:lnTo>
                  <a:lnTo>
                    <a:pt x="1605280" y="4866640"/>
                  </a:lnTo>
                  <a:lnTo>
                    <a:pt x="0" y="0"/>
                  </a:lnTo>
                  <a:close/>
                </a:path>
              </a:pathLst>
            </a:custGeom>
            <a:solidFill>
              <a:srgbClr val="E63E11"/>
            </a:solidFill>
            <a:ln>
              <a:noFill/>
            </a:ln>
            <a:effectLst>
              <a:outerShdw blurRad="76200" dist="1397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pic>
        <p:nvPicPr>
          <p:cNvPr id="15" name="Рисунок 14">
            <a:extLst>
              <a:ext uri="{FF2B5EF4-FFF2-40B4-BE49-F238E27FC236}">
                <a16:creationId xmlns:a16="http://schemas.microsoft.com/office/drawing/2014/main" id="{BDE12982-B671-C9FE-77C6-A094EC971EF9}"/>
              </a:ext>
            </a:extLst>
          </p:cNvPr>
          <p:cNvPicPr>
            <a:picLocks noChangeAspect="1"/>
          </p:cNvPicPr>
          <p:nvPr/>
        </p:nvPicPr>
        <p:blipFill>
          <a:blip r:embed="rId2"/>
          <a:stretch>
            <a:fillRect/>
          </a:stretch>
        </p:blipFill>
        <p:spPr>
          <a:xfrm>
            <a:off x="566928" y="530968"/>
            <a:ext cx="654662" cy="707523"/>
          </a:xfrm>
          <a:prstGeom prst="rect">
            <a:avLst/>
          </a:prstGeom>
        </p:spPr>
      </p:pic>
      <p:sp>
        <p:nvSpPr>
          <p:cNvPr id="16" name="TextBox 15">
            <a:extLst>
              <a:ext uri="{FF2B5EF4-FFF2-40B4-BE49-F238E27FC236}">
                <a16:creationId xmlns:a16="http://schemas.microsoft.com/office/drawing/2014/main" id="{5D2752B7-3F49-4177-CDC5-DC6F11887FFC}"/>
              </a:ext>
            </a:extLst>
          </p:cNvPr>
          <p:cNvSpPr txBox="1"/>
          <p:nvPr/>
        </p:nvSpPr>
        <p:spPr>
          <a:xfrm>
            <a:off x="1070465" y="1238491"/>
            <a:ext cx="4053840" cy="954107"/>
          </a:xfrm>
          <a:prstGeom prst="rect">
            <a:avLst/>
          </a:prstGeom>
          <a:noFill/>
        </p:spPr>
        <p:txBody>
          <a:bodyPr wrap="square" rtlCol="0">
            <a:spAutoFit/>
          </a:bodyPr>
          <a:lstStyle/>
          <a:p>
            <a:r>
              <a:rPr lang="ru-RU" sz="2800" b="1" dirty="0"/>
              <a:t>Проблема цифрового старения</a:t>
            </a:r>
          </a:p>
        </p:txBody>
      </p:sp>
      <p:sp>
        <p:nvSpPr>
          <p:cNvPr id="17" name="TextBox 16">
            <a:extLst>
              <a:ext uri="{FF2B5EF4-FFF2-40B4-BE49-F238E27FC236}">
                <a16:creationId xmlns:a16="http://schemas.microsoft.com/office/drawing/2014/main" id="{7908E041-BC83-EFEE-0D41-C054FC317D02}"/>
              </a:ext>
            </a:extLst>
          </p:cNvPr>
          <p:cNvSpPr txBox="1"/>
          <p:nvPr/>
        </p:nvSpPr>
        <p:spPr>
          <a:xfrm>
            <a:off x="1070465" y="2690336"/>
            <a:ext cx="6869575" cy="1477328"/>
          </a:xfrm>
          <a:prstGeom prst="rect">
            <a:avLst/>
          </a:prstGeom>
          <a:noFill/>
        </p:spPr>
        <p:txBody>
          <a:bodyPr wrap="square" rtlCol="0">
            <a:spAutoFit/>
          </a:bodyPr>
          <a:lstStyle/>
          <a:p>
            <a:r>
              <a:rPr lang="ru-RU" dirty="0">
                <a:solidFill>
                  <a:srgbClr val="000000"/>
                </a:solidFill>
                <a:latin typeface="Montserrat" panose="00000500000000000000" pitchFamily="2" charset="-52"/>
              </a:rPr>
              <a:t>Представьте ситуацию: молодожены в 2005 году записали все фото и видео со свадьбы на DVD-диск. Это было модно, удобно — все гости могли посмотреть красивый фильм о торжестве. Диск бережно хранился в шкафу, как семейная реликвия</a:t>
            </a:r>
          </a:p>
        </p:txBody>
      </p:sp>
    </p:spTree>
    <p:extLst>
      <p:ext uri="{BB962C8B-B14F-4D97-AF65-F5344CB8AC3E}">
        <p14:creationId xmlns:p14="http://schemas.microsoft.com/office/powerpoint/2010/main" val="347700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1D7EE9C5-2D7F-0DBF-079D-5A1D1D3EF399}"/>
              </a:ext>
            </a:extLst>
          </p:cNvPr>
          <p:cNvPicPr>
            <a:picLocks noChangeAspect="1"/>
          </p:cNvPicPr>
          <p:nvPr/>
        </p:nvPicPr>
        <p:blipFill>
          <a:blip r:embed="rId2"/>
          <a:stretch>
            <a:fillRect/>
          </a:stretch>
        </p:blipFill>
        <p:spPr>
          <a:xfrm>
            <a:off x="566928" y="530968"/>
            <a:ext cx="654662" cy="707523"/>
          </a:xfrm>
          <a:prstGeom prst="rect">
            <a:avLst/>
          </a:prstGeom>
        </p:spPr>
      </p:pic>
      <p:sp>
        <p:nvSpPr>
          <p:cNvPr id="5" name="TextBox 4">
            <a:extLst>
              <a:ext uri="{FF2B5EF4-FFF2-40B4-BE49-F238E27FC236}">
                <a16:creationId xmlns:a16="http://schemas.microsoft.com/office/drawing/2014/main" id="{BA6B500A-61F5-9716-7D6C-6BE54B4F51AD}"/>
              </a:ext>
            </a:extLst>
          </p:cNvPr>
          <p:cNvSpPr txBox="1"/>
          <p:nvPr/>
        </p:nvSpPr>
        <p:spPr>
          <a:xfrm>
            <a:off x="894259" y="1324544"/>
            <a:ext cx="3880414" cy="954107"/>
          </a:xfrm>
          <a:prstGeom prst="rect">
            <a:avLst/>
          </a:prstGeom>
          <a:noFill/>
        </p:spPr>
        <p:txBody>
          <a:bodyPr wrap="square" rtlCol="0">
            <a:spAutoFit/>
          </a:bodyPr>
          <a:lstStyle/>
          <a:p>
            <a:r>
              <a:rPr lang="ru-RU" sz="2800" b="1" dirty="0"/>
              <a:t>Технологическое старение</a:t>
            </a:r>
          </a:p>
        </p:txBody>
      </p:sp>
      <p:sp>
        <p:nvSpPr>
          <p:cNvPr id="3" name="TextBox 2">
            <a:extLst>
              <a:ext uri="{FF2B5EF4-FFF2-40B4-BE49-F238E27FC236}">
                <a16:creationId xmlns:a16="http://schemas.microsoft.com/office/drawing/2014/main" id="{12D39AE9-142B-DA49-2D90-94D5A9D2460F}"/>
              </a:ext>
            </a:extLst>
          </p:cNvPr>
          <p:cNvSpPr txBox="1"/>
          <p:nvPr/>
        </p:nvSpPr>
        <p:spPr>
          <a:xfrm>
            <a:off x="894259" y="2539482"/>
            <a:ext cx="4013021" cy="2308324"/>
          </a:xfrm>
          <a:prstGeom prst="rect">
            <a:avLst/>
          </a:prstGeom>
          <a:noFill/>
        </p:spPr>
        <p:txBody>
          <a:bodyPr wrap="square">
            <a:spAutoFit/>
          </a:bodyPr>
          <a:lstStyle/>
          <a:p>
            <a:r>
              <a:rPr lang="ru-RU" b="0" i="0" dirty="0">
                <a:solidFill>
                  <a:srgbClr val="000000"/>
                </a:solidFill>
                <a:effectLst/>
                <a:latin typeface="Montserrat" panose="00000500000000000000" pitchFamily="2" charset="-52"/>
              </a:rPr>
              <a:t>Носители устаревают (дискеты, диски, флешки старого образца). Форматы становятся неподдерживаемыми (как тот же VOB). Программы для чтения исчезают. Оборудование перестаёт выпускаться.</a:t>
            </a:r>
            <a:endParaRPr lang="ru-RU" dirty="0"/>
          </a:p>
        </p:txBody>
      </p:sp>
      <p:sp>
        <p:nvSpPr>
          <p:cNvPr id="12" name="TextBox 11">
            <a:extLst>
              <a:ext uri="{FF2B5EF4-FFF2-40B4-BE49-F238E27FC236}">
                <a16:creationId xmlns:a16="http://schemas.microsoft.com/office/drawing/2014/main" id="{9E2AA5B3-1E77-FFE0-DCF1-9E9F9F5622F5}"/>
              </a:ext>
            </a:extLst>
          </p:cNvPr>
          <p:cNvSpPr txBox="1"/>
          <p:nvPr/>
        </p:nvSpPr>
        <p:spPr>
          <a:xfrm>
            <a:off x="6855879" y="2539482"/>
            <a:ext cx="4187141" cy="2308324"/>
          </a:xfrm>
          <a:prstGeom prst="rect">
            <a:avLst/>
          </a:prstGeom>
          <a:noFill/>
        </p:spPr>
        <p:txBody>
          <a:bodyPr wrap="square">
            <a:spAutoFit/>
          </a:bodyPr>
          <a:lstStyle/>
          <a:p>
            <a:r>
              <a:rPr lang="ru-RU" b="0" i="0" dirty="0">
                <a:solidFill>
                  <a:srgbClr val="000000"/>
                </a:solidFill>
                <a:effectLst/>
                <a:latin typeface="Montserrat" panose="00000500000000000000" pitchFamily="2" charset="-52"/>
              </a:rPr>
              <a:t>Технологии развиваются, появляются новые стандарты и протоколы, которые делают предыдущие несовместимыми. Пользователи сталкиваются с необходимостью постоянного обновления устройств и форматов данных.</a:t>
            </a:r>
            <a:endParaRPr lang="ru-RU" dirty="0"/>
          </a:p>
        </p:txBody>
      </p:sp>
      <p:cxnSp>
        <p:nvCxnSpPr>
          <p:cNvPr id="14" name="Прямая соединительная линия 13">
            <a:extLst>
              <a:ext uri="{FF2B5EF4-FFF2-40B4-BE49-F238E27FC236}">
                <a16:creationId xmlns:a16="http://schemas.microsoft.com/office/drawing/2014/main" id="{A831160E-E206-8D0D-0784-7E7E137F2D89}"/>
              </a:ext>
            </a:extLst>
          </p:cNvPr>
          <p:cNvCxnSpPr/>
          <p:nvPr/>
        </p:nvCxnSpPr>
        <p:spPr>
          <a:xfrm>
            <a:off x="5836920" y="2367764"/>
            <a:ext cx="0" cy="265176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18304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F293AE54-73CA-8E52-3249-EA4945DF1621}"/>
              </a:ext>
            </a:extLst>
          </p:cNvPr>
          <p:cNvPicPr>
            <a:picLocks noChangeAspect="1"/>
          </p:cNvPicPr>
          <p:nvPr/>
        </p:nvPicPr>
        <p:blipFill>
          <a:blip r:embed="rId2"/>
          <a:stretch>
            <a:fillRect/>
          </a:stretch>
        </p:blipFill>
        <p:spPr>
          <a:xfrm>
            <a:off x="566928" y="530968"/>
            <a:ext cx="654662" cy="707523"/>
          </a:xfrm>
          <a:prstGeom prst="rect">
            <a:avLst/>
          </a:prstGeom>
        </p:spPr>
      </p:pic>
      <p:sp>
        <p:nvSpPr>
          <p:cNvPr id="8" name="TextBox 7">
            <a:extLst>
              <a:ext uri="{FF2B5EF4-FFF2-40B4-BE49-F238E27FC236}">
                <a16:creationId xmlns:a16="http://schemas.microsoft.com/office/drawing/2014/main" id="{A9EFCF6E-5AE9-983C-AD10-ED7424BDA009}"/>
              </a:ext>
            </a:extLst>
          </p:cNvPr>
          <p:cNvSpPr txBox="1"/>
          <p:nvPr/>
        </p:nvSpPr>
        <p:spPr>
          <a:xfrm>
            <a:off x="894259" y="1089898"/>
            <a:ext cx="3471055" cy="954107"/>
          </a:xfrm>
          <a:prstGeom prst="rect">
            <a:avLst/>
          </a:prstGeom>
          <a:noFill/>
        </p:spPr>
        <p:txBody>
          <a:bodyPr wrap="square" rtlCol="0">
            <a:spAutoFit/>
          </a:bodyPr>
          <a:lstStyle/>
          <a:p>
            <a:r>
              <a:rPr lang="ru-RU" sz="2800" b="1" dirty="0"/>
              <a:t>Информационное старение</a:t>
            </a:r>
          </a:p>
        </p:txBody>
      </p:sp>
      <p:sp>
        <p:nvSpPr>
          <p:cNvPr id="3" name="TextBox 2">
            <a:extLst>
              <a:ext uri="{FF2B5EF4-FFF2-40B4-BE49-F238E27FC236}">
                <a16:creationId xmlns:a16="http://schemas.microsoft.com/office/drawing/2014/main" id="{96ECAFD0-3BF7-7C16-1C6E-D2A4DF57CC67}"/>
              </a:ext>
            </a:extLst>
          </p:cNvPr>
          <p:cNvSpPr txBox="1"/>
          <p:nvPr/>
        </p:nvSpPr>
        <p:spPr>
          <a:xfrm>
            <a:off x="894259" y="2274837"/>
            <a:ext cx="6096000" cy="923330"/>
          </a:xfrm>
          <a:prstGeom prst="rect">
            <a:avLst/>
          </a:prstGeom>
          <a:noFill/>
        </p:spPr>
        <p:txBody>
          <a:bodyPr wrap="square">
            <a:spAutoFit/>
          </a:bodyPr>
          <a:lstStyle/>
          <a:p>
            <a:r>
              <a:rPr lang="ru-RU" b="0" i="0" dirty="0">
                <a:solidFill>
                  <a:srgbClr val="000000"/>
                </a:solidFill>
                <a:effectLst/>
                <a:latin typeface="Montserrat" panose="00000500000000000000" pitchFamily="2" charset="-52"/>
              </a:rPr>
              <a:t>Информационное старение характеризуется потерей актуальности и ценности данных с течением времени.</a:t>
            </a:r>
            <a:endParaRPr lang="ru-RU" dirty="0"/>
          </a:p>
        </p:txBody>
      </p:sp>
      <p:sp>
        <p:nvSpPr>
          <p:cNvPr id="16" name="TextBox 15">
            <a:extLst>
              <a:ext uri="{FF2B5EF4-FFF2-40B4-BE49-F238E27FC236}">
                <a16:creationId xmlns:a16="http://schemas.microsoft.com/office/drawing/2014/main" id="{76715EB1-D5B0-BED0-F315-C77D47C6B2D2}"/>
              </a:ext>
            </a:extLst>
          </p:cNvPr>
          <p:cNvSpPr txBox="1"/>
          <p:nvPr/>
        </p:nvSpPr>
        <p:spPr>
          <a:xfrm>
            <a:off x="894259" y="3228647"/>
            <a:ext cx="6096000" cy="2031325"/>
          </a:xfrm>
          <a:prstGeom prst="rect">
            <a:avLst/>
          </a:prstGeom>
          <a:noFill/>
        </p:spPr>
        <p:txBody>
          <a:bodyPr wrap="square">
            <a:spAutoFit/>
          </a:bodyPr>
          <a:lstStyle/>
          <a:p>
            <a:r>
              <a:rPr lang="ru-RU" b="0" i="0" dirty="0">
                <a:solidFill>
                  <a:srgbClr val="000000"/>
                </a:solidFill>
                <a:effectLst/>
                <a:latin typeface="Montserrat" panose="00000500000000000000" pitchFamily="2" charset="-52"/>
              </a:rPr>
              <a:t>Этот процесс обусловлен накоплением новой информации, которая уточняет, дополняет или опровергает ранее существовавшие сведения. Информационное старение может привести к снижению доверия к источникам и необходимости постоянного обновления информации.</a:t>
            </a:r>
            <a:endParaRPr lang="ru-RU" dirty="0"/>
          </a:p>
        </p:txBody>
      </p:sp>
      <p:sp>
        <p:nvSpPr>
          <p:cNvPr id="18" name="TextBox 17">
            <a:extLst>
              <a:ext uri="{FF2B5EF4-FFF2-40B4-BE49-F238E27FC236}">
                <a16:creationId xmlns:a16="http://schemas.microsoft.com/office/drawing/2014/main" id="{BB996CCF-B5E4-DFE4-CAAF-41404ED87DF5}"/>
              </a:ext>
            </a:extLst>
          </p:cNvPr>
          <p:cNvSpPr txBox="1"/>
          <p:nvPr/>
        </p:nvSpPr>
        <p:spPr>
          <a:xfrm>
            <a:off x="894259" y="5444936"/>
            <a:ext cx="6096000" cy="646331"/>
          </a:xfrm>
          <a:prstGeom prst="rect">
            <a:avLst/>
          </a:prstGeom>
          <a:noFill/>
        </p:spPr>
        <p:txBody>
          <a:bodyPr wrap="square">
            <a:spAutoFit/>
          </a:bodyPr>
          <a:lstStyle/>
          <a:p>
            <a:r>
              <a:rPr lang="ru-RU" b="0" i="0" dirty="0">
                <a:solidFill>
                  <a:srgbClr val="000000"/>
                </a:solidFill>
                <a:effectLst/>
                <a:latin typeface="Montserrat" panose="00000500000000000000" pitchFamily="2" charset="-52"/>
              </a:rPr>
              <a:t>Важно регулярно проверять и актуализировать данные для поддержания их достоверности.</a:t>
            </a:r>
            <a:endParaRPr lang="ru-RU" dirty="0"/>
          </a:p>
        </p:txBody>
      </p:sp>
      <p:pic>
        <p:nvPicPr>
          <p:cNvPr id="1026" name="Picture 2">
            <a:extLst>
              <a:ext uri="{FF2B5EF4-FFF2-40B4-BE49-F238E27FC236}">
                <a16:creationId xmlns:a16="http://schemas.microsoft.com/office/drawing/2014/main" id="{9E163436-6DAE-E831-6806-BC4C237238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9835" y="298515"/>
            <a:ext cx="3515237" cy="6260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4646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8EBEBB71-5863-4240-E669-98D2F438B37A}"/>
              </a:ext>
            </a:extLst>
          </p:cNvPr>
          <p:cNvPicPr>
            <a:picLocks noChangeAspect="1"/>
          </p:cNvPicPr>
          <p:nvPr/>
        </p:nvPicPr>
        <p:blipFill>
          <a:blip r:embed="rId2"/>
          <a:stretch>
            <a:fillRect/>
          </a:stretch>
        </p:blipFill>
        <p:spPr>
          <a:xfrm>
            <a:off x="566928" y="530968"/>
            <a:ext cx="654662" cy="707523"/>
          </a:xfrm>
          <a:prstGeom prst="rect">
            <a:avLst/>
          </a:prstGeom>
        </p:spPr>
      </p:pic>
      <p:sp>
        <p:nvSpPr>
          <p:cNvPr id="6" name="TextBox 5">
            <a:extLst>
              <a:ext uri="{FF2B5EF4-FFF2-40B4-BE49-F238E27FC236}">
                <a16:creationId xmlns:a16="http://schemas.microsoft.com/office/drawing/2014/main" id="{4238E27C-04E7-B87F-1C0F-ED66C04443BD}"/>
              </a:ext>
            </a:extLst>
          </p:cNvPr>
          <p:cNvSpPr txBox="1"/>
          <p:nvPr/>
        </p:nvSpPr>
        <p:spPr>
          <a:xfrm>
            <a:off x="777240" y="1406330"/>
            <a:ext cx="6096000" cy="523220"/>
          </a:xfrm>
          <a:prstGeom prst="rect">
            <a:avLst/>
          </a:prstGeom>
          <a:noFill/>
        </p:spPr>
        <p:txBody>
          <a:bodyPr wrap="square">
            <a:spAutoFit/>
          </a:bodyPr>
          <a:lstStyle/>
          <a:p>
            <a:r>
              <a:rPr lang="ru-RU" sz="2800" b="1" dirty="0"/>
              <a:t>Физическое старение</a:t>
            </a:r>
          </a:p>
        </p:txBody>
      </p:sp>
      <p:sp>
        <p:nvSpPr>
          <p:cNvPr id="13" name="TextBox 12">
            <a:extLst>
              <a:ext uri="{FF2B5EF4-FFF2-40B4-BE49-F238E27FC236}">
                <a16:creationId xmlns:a16="http://schemas.microsoft.com/office/drawing/2014/main" id="{07209139-07A0-2D4B-8E93-6692D8FD34B5}"/>
              </a:ext>
            </a:extLst>
          </p:cNvPr>
          <p:cNvSpPr txBox="1"/>
          <p:nvPr/>
        </p:nvSpPr>
        <p:spPr>
          <a:xfrm>
            <a:off x="777240" y="2172163"/>
            <a:ext cx="6949440" cy="646331"/>
          </a:xfrm>
          <a:prstGeom prst="rect">
            <a:avLst/>
          </a:prstGeom>
          <a:noFill/>
        </p:spPr>
        <p:txBody>
          <a:bodyPr wrap="square">
            <a:spAutoFit/>
          </a:bodyPr>
          <a:lstStyle/>
          <a:p>
            <a:r>
              <a:rPr lang="ru-RU" dirty="0">
                <a:solidFill>
                  <a:srgbClr val="000000"/>
                </a:solidFill>
                <a:latin typeface="Montserrat" panose="00000500000000000000" pitchFamily="2" charset="-52"/>
              </a:rPr>
              <a:t>Физическое старение выражается в износе и деградации носителей данных.</a:t>
            </a:r>
          </a:p>
        </p:txBody>
      </p:sp>
      <p:sp>
        <p:nvSpPr>
          <p:cNvPr id="15" name="TextBox 14">
            <a:extLst>
              <a:ext uri="{FF2B5EF4-FFF2-40B4-BE49-F238E27FC236}">
                <a16:creationId xmlns:a16="http://schemas.microsoft.com/office/drawing/2014/main" id="{DE7B8709-8CFB-41E7-84B3-0A4793EC5209}"/>
              </a:ext>
            </a:extLst>
          </p:cNvPr>
          <p:cNvSpPr txBox="1"/>
          <p:nvPr/>
        </p:nvSpPr>
        <p:spPr>
          <a:xfrm>
            <a:off x="777240" y="3061107"/>
            <a:ext cx="6949440" cy="2031325"/>
          </a:xfrm>
          <a:prstGeom prst="rect">
            <a:avLst/>
          </a:prstGeom>
          <a:noFill/>
        </p:spPr>
        <p:txBody>
          <a:bodyPr wrap="square">
            <a:spAutoFit/>
          </a:bodyPr>
          <a:lstStyle/>
          <a:p>
            <a:r>
              <a:rPr lang="ru-RU" b="0" i="0" dirty="0">
                <a:solidFill>
                  <a:srgbClr val="000000"/>
                </a:solidFill>
                <a:effectLst/>
                <a:latin typeface="Montserrat" panose="00000500000000000000" pitchFamily="2" charset="-52"/>
              </a:rPr>
              <a:t>Магнитные, оптические и электронные носители информации имеют ограниченный срок службы, что создаёт риск безвозвратной потери данных. Регулярное резервное копирование данных может помочь минимизировать риски потери информации. Для продления срока службы носителей важно также контролировать условия их хранения и эксплуатации.</a:t>
            </a:r>
            <a:endParaRPr lang="ru-RU" dirty="0"/>
          </a:p>
        </p:txBody>
      </p:sp>
    </p:spTree>
    <p:extLst>
      <p:ext uri="{BB962C8B-B14F-4D97-AF65-F5344CB8AC3E}">
        <p14:creationId xmlns:p14="http://schemas.microsoft.com/office/powerpoint/2010/main" val="2506199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8EBEBB71-5863-4240-E669-98D2F438B37A}"/>
              </a:ext>
            </a:extLst>
          </p:cNvPr>
          <p:cNvPicPr>
            <a:picLocks noChangeAspect="1"/>
          </p:cNvPicPr>
          <p:nvPr/>
        </p:nvPicPr>
        <p:blipFill>
          <a:blip r:embed="rId3"/>
          <a:stretch>
            <a:fillRect/>
          </a:stretch>
        </p:blipFill>
        <p:spPr>
          <a:xfrm>
            <a:off x="566928" y="530968"/>
            <a:ext cx="654662" cy="707523"/>
          </a:xfrm>
          <a:prstGeom prst="rect">
            <a:avLst/>
          </a:prstGeom>
        </p:spPr>
      </p:pic>
      <p:sp>
        <p:nvSpPr>
          <p:cNvPr id="8" name="TextBox 7">
            <a:extLst>
              <a:ext uri="{FF2B5EF4-FFF2-40B4-BE49-F238E27FC236}">
                <a16:creationId xmlns:a16="http://schemas.microsoft.com/office/drawing/2014/main" id="{395106A0-6488-F149-3C10-B7BF09C10716}"/>
              </a:ext>
            </a:extLst>
          </p:cNvPr>
          <p:cNvSpPr txBox="1"/>
          <p:nvPr/>
        </p:nvSpPr>
        <p:spPr>
          <a:xfrm>
            <a:off x="777240" y="1238491"/>
            <a:ext cx="3699655" cy="954107"/>
          </a:xfrm>
          <a:prstGeom prst="rect">
            <a:avLst/>
          </a:prstGeom>
          <a:noFill/>
        </p:spPr>
        <p:txBody>
          <a:bodyPr wrap="square" rtlCol="0">
            <a:spAutoFit/>
          </a:bodyPr>
          <a:lstStyle/>
          <a:p>
            <a:r>
              <a:rPr lang="ru-RU" sz="2800" b="1" dirty="0"/>
              <a:t>Организационно-правовые пробелы</a:t>
            </a:r>
          </a:p>
        </p:txBody>
      </p:sp>
      <p:sp>
        <p:nvSpPr>
          <p:cNvPr id="3" name="TextBox 2">
            <a:extLst>
              <a:ext uri="{FF2B5EF4-FFF2-40B4-BE49-F238E27FC236}">
                <a16:creationId xmlns:a16="http://schemas.microsoft.com/office/drawing/2014/main" id="{02CD527B-7843-E2F7-9E61-11426B1E475F}"/>
              </a:ext>
            </a:extLst>
          </p:cNvPr>
          <p:cNvSpPr txBox="1"/>
          <p:nvPr/>
        </p:nvSpPr>
        <p:spPr>
          <a:xfrm>
            <a:off x="777240" y="2582208"/>
            <a:ext cx="6096000" cy="1754326"/>
          </a:xfrm>
          <a:prstGeom prst="rect">
            <a:avLst/>
          </a:prstGeom>
          <a:noFill/>
        </p:spPr>
        <p:txBody>
          <a:bodyPr wrap="square">
            <a:spAutoFit/>
          </a:bodyPr>
          <a:lstStyle/>
          <a:p>
            <a:r>
              <a:rPr lang="ru-RU" b="0" i="0" dirty="0">
                <a:solidFill>
                  <a:srgbClr val="000000"/>
                </a:solidFill>
                <a:effectLst/>
                <a:latin typeface="Montserrat" panose="00000500000000000000" pitchFamily="2" charset="-52"/>
              </a:rPr>
              <a:t>Отсутствие единых стандартов и нормативов хранения цифровых документов создаёт правовые и организационные сложности. Недостаточная нормативная база затрудняет создание унифицированных систем долговременного хранения.</a:t>
            </a:r>
            <a:endParaRPr lang="ru-RU" dirty="0"/>
          </a:p>
        </p:txBody>
      </p:sp>
      <p:sp>
        <p:nvSpPr>
          <p:cNvPr id="7" name="TextBox 6">
            <a:extLst>
              <a:ext uri="{FF2B5EF4-FFF2-40B4-BE49-F238E27FC236}">
                <a16:creationId xmlns:a16="http://schemas.microsoft.com/office/drawing/2014/main" id="{43AC76C8-6EAF-DFCE-9B15-F022010DA969}"/>
              </a:ext>
            </a:extLst>
          </p:cNvPr>
          <p:cNvSpPr txBox="1"/>
          <p:nvPr/>
        </p:nvSpPr>
        <p:spPr>
          <a:xfrm>
            <a:off x="777240" y="4611806"/>
            <a:ext cx="6096000" cy="1477328"/>
          </a:xfrm>
          <a:prstGeom prst="rect">
            <a:avLst/>
          </a:prstGeom>
          <a:noFill/>
        </p:spPr>
        <p:txBody>
          <a:bodyPr wrap="square">
            <a:spAutoFit/>
          </a:bodyPr>
          <a:lstStyle/>
          <a:p>
            <a:r>
              <a:rPr lang="ru-RU" b="0" i="0" dirty="0">
                <a:solidFill>
                  <a:srgbClr val="000000"/>
                </a:solidFill>
                <a:effectLst/>
                <a:latin typeface="Montserrat" panose="00000500000000000000" pitchFamily="2" charset="-52"/>
              </a:rPr>
              <a:t>Это приводит к рискам потери данных и невозможности их восстановления. Кроме того, усложняется взаимодействие между различными организациями при обмене информацией.</a:t>
            </a:r>
            <a:endParaRPr lang="ru-RU" dirty="0"/>
          </a:p>
        </p:txBody>
      </p:sp>
    </p:spTree>
    <p:extLst>
      <p:ext uri="{BB962C8B-B14F-4D97-AF65-F5344CB8AC3E}">
        <p14:creationId xmlns:p14="http://schemas.microsoft.com/office/powerpoint/2010/main" val="1187574266"/>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8EBEBB71-5863-4240-E669-98D2F438B37A}"/>
              </a:ext>
            </a:extLst>
          </p:cNvPr>
          <p:cNvPicPr>
            <a:picLocks noChangeAspect="1"/>
          </p:cNvPicPr>
          <p:nvPr/>
        </p:nvPicPr>
        <p:blipFill>
          <a:blip r:embed="rId4"/>
          <a:stretch>
            <a:fillRect/>
          </a:stretch>
        </p:blipFill>
        <p:spPr>
          <a:xfrm>
            <a:off x="566928" y="530968"/>
            <a:ext cx="654662" cy="707523"/>
          </a:xfrm>
          <a:prstGeom prst="rect">
            <a:avLst/>
          </a:prstGeom>
        </p:spPr>
      </p:pic>
      <p:sp>
        <p:nvSpPr>
          <p:cNvPr id="8" name="TextBox 7">
            <a:extLst>
              <a:ext uri="{FF2B5EF4-FFF2-40B4-BE49-F238E27FC236}">
                <a16:creationId xmlns:a16="http://schemas.microsoft.com/office/drawing/2014/main" id="{395106A0-6488-F149-3C10-B7BF09C10716}"/>
              </a:ext>
            </a:extLst>
          </p:cNvPr>
          <p:cNvSpPr txBox="1"/>
          <p:nvPr/>
        </p:nvSpPr>
        <p:spPr>
          <a:xfrm>
            <a:off x="566928" y="1349676"/>
            <a:ext cx="3745375" cy="646331"/>
          </a:xfrm>
          <a:prstGeom prst="rect">
            <a:avLst/>
          </a:prstGeom>
          <a:noFill/>
        </p:spPr>
        <p:txBody>
          <a:bodyPr wrap="square" rtlCol="0">
            <a:spAutoFit/>
          </a:bodyPr>
          <a:lstStyle/>
          <a:p>
            <a:r>
              <a:rPr lang="ru-RU" b="1" dirty="0"/>
              <a:t>Принципы долговременного хранения</a:t>
            </a:r>
            <a:endParaRPr lang="ru-RU" sz="2400" b="1" dirty="0">
              <a:solidFill>
                <a:srgbClr val="222322"/>
              </a:solidFill>
              <a:latin typeface="Cera Pro" panose="00000500000000000000" pitchFamily="2" charset="0"/>
            </a:endParaRPr>
          </a:p>
        </p:txBody>
      </p:sp>
      <p:sp>
        <p:nvSpPr>
          <p:cNvPr id="9" name="TextBox 8">
            <a:extLst>
              <a:ext uri="{FF2B5EF4-FFF2-40B4-BE49-F238E27FC236}">
                <a16:creationId xmlns:a16="http://schemas.microsoft.com/office/drawing/2014/main" id="{0A9F17EF-1E2C-1FCB-BD41-5B54AAFD7338}"/>
              </a:ext>
            </a:extLst>
          </p:cNvPr>
          <p:cNvSpPr txBox="1"/>
          <p:nvPr/>
        </p:nvSpPr>
        <p:spPr>
          <a:xfrm>
            <a:off x="566928" y="2167656"/>
            <a:ext cx="7708392" cy="2031325"/>
          </a:xfrm>
          <a:prstGeom prst="rect">
            <a:avLst/>
          </a:prstGeom>
          <a:noFill/>
        </p:spPr>
        <p:txBody>
          <a:bodyPr wrap="square" rtlCol="0">
            <a:spAutoFit/>
          </a:bodyPr>
          <a:lstStyle/>
          <a:p>
            <a:r>
              <a:rPr lang="ru-RU" dirty="0">
                <a:solidFill>
                  <a:srgbClr val="000000"/>
                </a:solidFill>
                <a:latin typeface="Montserrat" panose="00000500000000000000" pitchFamily="2" charset="-52"/>
              </a:rPr>
              <a:t>Система долговременного хранения должна базироваться на пяти ключевых принципах: целостность данных, доступность, конфиденциальность, оригинальность, управление жизненным циклом. Эффективная система долговременного хранения также должна включать механизмы для регулярного резервного копирования и возможности масштабирования в зависимости от объёма данных</a:t>
            </a:r>
          </a:p>
        </p:txBody>
      </p:sp>
      <p:sp>
        <p:nvSpPr>
          <p:cNvPr id="6" name="TextBox 5">
            <a:extLst>
              <a:ext uri="{FF2B5EF4-FFF2-40B4-BE49-F238E27FC236}">
                <a16:creationId xmlns:a16="http://schemas.microsoft.com/office/drawing/2014/main" id="{C900D0E4-7BDF-6AA0-4104-A68E79819F27}"/>
              </a:ext>
            </a:extLst>
          </p:cNvPr>
          <p:cNvSpPr txBox="1"/>
          <p:nvPr/>
        </p:nvSpPr>
        <p:spPr>
          <a:xfrm>
            <a:off x="8577071" y="543289"/>
            <a:ext cx="3048001" cy="276999"/>
          </a:xfrm>
          <a:prstGeom prst="rect">
            <a:avLst/>
          </a:prstGeom>
          <a:noFill/>
        </p:spPr>
        <p:txBody>
          <a:bodyPr wrap="square" rtlCol="0">
            <a:spAutoFit/>
          </a:bodyPr>
          <a:lstStyle/>
          <a:p>
            <a:pPr algn="r"/>
            <a:r>
              <a:rPr lang="ru-RU" sz="1200" dirty="0">
                <a:solidFill>
                  <a:schemeClr val="bg1">
                    <a:alpha val="60000"/>
                  </a:schemeClr>
                </a:solidFill>
                <a:latin typeface="DIN Pro Medium" panose="020B0604020101020102" pitchFamily="34" charset="0"/>
                <a:cs typeface="DIN Pro Medium" panose="020B0604020101020102" pitchFamily="34" charset="0"/>
              </a:rPr>
              <a:t>Заголовок вашего проекта/тема</a:t>
            </a:r>
          </a:p>
        </p:txBody>
      </p:sp>
      <p:sp>
        <p:nvSpPr>
          <p:cNvPr id="5" name="TextBox 4">
            <a:extLst>
              <a:ext uri="{FF2B5EF4-FFF2-40B4-BE49-F238E27FC236}">
                <a16:creationId xmlns:a16="http://schemas.microsoft.com/office/drawing/2014/main" id="{2E407AEC-8114-7FAD-511D-2C0E76BAF675}"/>
              </a:ext>
            </a:extLst>
          </p:cNvPr>
          <p:cNvSpPr txBox="1"/>
          <p:nvPr/>
        </p:nvSpPr>
        <p:spPr>
          <a:xfrm>
            <a:off x="566928" y="4370630"/>
            <a:ext cx="6096000" cy="923330"/>
          </a:xfrm>
          <a:prstGeom prst="rect">
            <a:avLst/>
          </a:prstGeom>
          <a:noFill/>
        </p:spPr>
        <p:txBody>
          <a:bodyPr wrap="square">
            <a:spAutoFit/>
          </a:bodyPr>
          <a:lstStyle/>
          <a:p>
            <a:r>
              <a:rPr lang="ru-RU" b="0" i="0" dirty="0">
                <a:solidFill>
                  <a:srgbClr val="000000"/>
                </a:solidFill>
                <a:effectLst/>
                <a:latin typeface="Montserrat" panose="00000500000000000000" pitchFamily="2" charset="-52"/>
              </a:rPr>
              <a:t>Особое внимание следует уделить разработке политик архивирования и удаления устаревших данных.</a:t>
            </a:r>
            <a:endParaRPr lang="ru-RU" dirty="0"/>
          </a:p>
        </p:txBody>
      </p:sp>
    </p:spTree>
    <p:extLst>
      <p:ext uri="{BB962C8B-B14F-4D97-AF65-F5344CB8AC3E}">
        <p14:creationId xmlns:p14="http://schemas.microsoft.com/office/powerpoint/2010/main" val="3883138989"/>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B5E4FA41-2BFD-DABD-71DC-B8A3B56AF9F2}"/>
              </a:ext>
            </a:extLst>
          </p:cNvPr>
          <p:cNvPicPr>
            <a:picLocks noChangeAspect="1"/>
          </p:cNvPicPr>
          <p:nvPr/>
        </p:nvPicPr>
        <p:blipFill>
          <a:blip r:embed="rId3"/>
          <a:stretch>
            <a:fillRect/>
          </a:stretch>
        </p:blipFill>
        <p:spPr>
          <a:xfrm>
            <a:off x="566928" y="530968"/>
            <a:ext cx="654662" cy="707523"/>
          </a:xfrm>
          <a:prstGeom prst="rect">
            <a:avLst/>
          </a:prstGeom>
        </p:spPr>
      </p:pic>
      <p:sp>
        <p:nvSpPr>
          <p:cNvPr id="6" name="TextBox 5">
            <a:extLst>
              <a:ext uri="{FF2B5EF4-FFF2-40B4-BE49-F238E27FC236}">
                <a16:creationId xmlns:a16="http://schemas.microsoft.com/office/drawing/2014/main" id="{2F47D24D-8E45-2CFB-0661-C99A367FE07D}"/>
              </a:ext>
            </a:extLst>
          </p:cNvPr>
          <p:cNvSpPr txBox="1"/>
          <p:nvPr/>
        </p:nvSpPr>
        <p:spPr>
          <a:xfrm>
            <a:off x="2696670" y="761532"/>
            <a:ext cx="5772912" cy="461665"/>
          </a:xfrm>
          <a:prstGeom prst="rect">
            <a:avLst/>
          </a:prstGeom>
          <a:noFill/>
        </p:spPr>
        <p:txBody>
          <a:bodyPr wrap="square" rtlCol="0">
            <a:spAutoFit/>
          </a:bodyPr>
          <a:lstStyle/>
          <a:p>
            <a:r>
              <a:rPr lang="ru-RU" sz="2400" b="1" dirty="0"/>
              <a:t>Методы долговременного хранения</a:t>
            </a:r>
            <a:endParaRPr lang="ru-RU" sz="2400" b="1" dirty="0">
              <a:solidFill>
                <a:srgbClr val="222322"/>
              </a:solidFill>
              <a:latin typeface="Cera Pro" panose="00000500000000000000" pitchFamily="2" charset="0"/>
            </a:endParaRPr>
          </a:p>
        </p:txBody>
      </p:sp>
      <p:sp>
        <p:nvSpPr>
          <p:cNvPr id="7" name="TextBox 6">
            <a:extLst>
              <a:ext uri="{FF2B5EF4-FFF2-40B4-BE49-F238E27FC236}">
                <a16:creationId xmlns:a16="http://schemas.microsoft.com/office/drawing/2014/main" id="{AF867E19-DF2E-8BA9-625C-DC79A6D924D5}"/>
              </a:ext>
            </a:extLst>
          </p:cNvPr>
          <p:cNvSpPr txBox="1"/>
          <p:nvPr/>
        </p:nvSpPr>
        <p:spPr>
          <a:xfrm>
            <a:off x="894259" y="1878697"/>
            <a:ext cx="2983992" cy="1200329"/>
          </a:xfrm>
          <a:prstGeom prst="rect">
            <a:avLst/>
          </a:prstGeom>
          <a:noFill/>
        </p:spPr>
        <p:txBody>
          <a:bodyPr wrap="square" rtlCol="0">
            <a:spAutoFit/>
          </a:bodyPr>
          <a:lstStyle/>
          <a:p>
            <a:r>
              <a:rPr lang="ru-RU" dirty="0"/>
              <a:t>Консервация предполагает хранение файлов в исходных форматах и средах.</a:t>
            </a:r>
            <a:endParaRPr lang="ru-RU" sz="1600" dirty="0">
              <a:solidFill>
                <a:srgbClr val="222322"/>
              </a:solidFill>
              <a:latin typeface="DIN Pro Bold" panose="020B0804020101020102" pitchFamily="34" charset="0"/>
              <a:cs typeface="DIN Pro Bold" panose="020B0804020101020102" pitchFamily="34" charset="0"/>
            </a:endParaRPr>
          </a:p>
        </p:txBody>
      </p:sp>
      <p:sp>
        <p:nvSpPr>
          <p:cNvPr id="8" name="TextBox 7">
            <a:extLst>
              <a:ext uri="{FF2B5EF4-FFF2-40B4-BE49-F238E27FC236}">
                <a16:creationId xmlns:a16="http://schemas.microsoft.com/office/drawing/2014/main" id="{563FA566-8D05-56ED-770B-D6C204987ED0}"/>
              </a:ext>
            </a:extLst>
          </p:cNvPr>
          <p:cNvSpPr txBox="1"/>
          <p:nvPr/>
        </p:nvSpPr>
        <p:spPr>
          <a:xfrm>
            <a:off x="5964821" y="1878697"/>
            <a:ext cx="5772912" cy="2308324"/>
          </a:xfrm>
          <a:prstGeom prst="rect">
            <a:avLst/>
          </a:prstGeom>
          <a:noFill/>
        </p:spPr>
        <p:txBody>
          <a:bodyPr wrap="square" rtlCol="0">
            <a:spAutoFit/>
          </a:bodyPr>
          <a:lstStyle/>
          <a:p>
            <a:r>
              <a:rPr lang="ru-RU" dirty="0"/>
              <a:t>Эмуляция заключается в воссоздании старого программного окружения на современных платформах. Инкапсуляция предусматривает включение метаданных и описаний внутрь цифрового объекта. Архивирование позволяет создавать резервные копии цифровых объектов для их долгосрочного сохранения и восстановления в случае необходимости</a:t>
            </a:r>
            <a:endParaRPr lang="ru-RU" sz="1400" dirty="0">
              <a:latin typeface="DIN Pro Medium" panose="020B0604020101020102" pitchFamily="34" charset="0"/>
              <a:cs typeface="DIN Pro Medium" panose="020B0604020101020102" pitchFamily="34" charset="0"/>
            </a:endParaRPr>
          </a:p>
        </p:txBody>
      </p:sp>
      <p:sp>
        <p:nvSpPr>
          <p:cNvPr id="10" name="TextBox 9">
            <a:extLst>
              <a:ext uri="{FF2B5EF4-FFF2-40B4-BE49-F238E27FC236}">
                <a16:creationId xmlns:a16="http://schemas.microsoft.com/office/drawing/2014/main" id="{62CE32B0-497C-3D3B-7175-532FF4F5AC11}"/>
              </a:ext>
            </a:extLst>
          </p:cNvPr>
          <p:cNvSpPr txBox="1"/>
          <p:nvPr/>
        </p:nvSpPr>
        <p:spPr>
          <a:xfrm>
            <a:off x="8577071" y="543289"/>
            <a:ext cx="3048001" cy="276999"/>
          </a:xfrm>
          <a:prstGeom prst="rect">
            <a:avLst/>
          </a:prstGeom>
          <a:noFill/>
        </p:spPr>
        <p:txBody>
          <a:bodyPr wrap="square" rtlCol="0">
            <a:spAutoFit/>
          </a:bodyPr>
          <a:lstStyle/>
          <a:p>
            <a:pPr algn="r"/>
            <a:r>
              <a:rPr lang="ru-RU" sz="1200" dirty="0">
                <a:solidFill>
                  <a:schemeClr val="bg1">
                    <a:alpha val="60000"/>
                  </a:schemeClr>
                </a:solidFill>
                <a:latin typeface="DIN Pro Medium" panose="020B0604020101020102" pitchFamily="34" charset="0"/>
                <a:cs typeface="DIN Pro Medium" panose="020B0604020101020102" pitchFamily="34" charset="0"/>
              </a:rPr>
              <a:t>Заголовок вашего проекта/тема</a:t>
            </a:r>
          </a:p>
        </p:txBody>
      </p:sp>
      <p:cxnSp>
        <p:nvCxnSpPr>
          <p:cNvPr id="3" name="Прямая соединительная линия 2">
            <a:extLst>
              <a:ext uri="{FF2B5EF4-FFF2-40B4-BE49-F238E27FC236}">
                <a16:creationId xmlns:a16="http://schemas.microsoft.com/office/drawing/2014/main" id="{A49444A9-933A-4CC1-7F94-FC1531692CA0}"/>
              </a:ext>
            </a:extLst>
          </p:cNvPr>
          <p:cNvCxnSpPr/>
          <p:nvPr/>
        </p:nvCxnSpPr>
        <p:spPr>
          <a:xfrm>
            <a:off x="5583126" y="1855613"/>
            <a:ext cx="0" cy="2354491"/>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3926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12B43D7C-1537-18E6-73AF-F4C1522C23FB}"/>
              </a:ext>
            </a:extLst>
          </p:cNvPr>
          <p:cNvPicPr>
            <a:picLocks noChangeAspect="1"/>
          </p:cNvPicPr>
          <p:nvPr/>
        </p:nvPicPr>
        <p:blipFill>
          <a:blip r:embed="rId2"/>
          <a:stretch>
            <a:fillRect/>
          </a:stretch>
        </p:blipFill>
        <p:spPr>
          <a:xfrm>
            <a:off x="566928" y="530968"/>
            <a:ext cx="654662" cy="707523"/>
          </a:xfrm>
          <a:prstGeom prst="rect">
            <a:avLst/>
          </a:prstGeom>
        </p:spPr>
      </p:pic>
      <p:sp>
        <p:nvSpPr>
          <p:cNvPr id="6" name="TextBox 5">
            <a:extLst>
              <a:ext uri="{FF2B5EF4-FFF2-40B4-BE49-F238E27FC236}">
                <a16:creationId xmlns:a16="http://schemas.microsoft.com/office/drawing/2014/main" id="{143F8495-9A5E-901E-BAD5-78D12F290330}"/>
              </a:ext>
            </a:extLst>
          </p:cNvPr>
          <p:cNvSpPr txBox="1"/>
          <p:nvPr/>
        </p:nvSpPr>
        <p:spPr>
          <a:xfrm>
            <a:off x="716280" y="1463100"/>
            <a:ext cx="6096000" cy="3693319"/>
          </a:xfrm>
          <a:prstGeom prst="rect">
            <a:avLst/>
          </a:prstGeom>
          <a:noFill/>
        </p:spPr>
        <p:txBody>
          <a:bodyPr wrap="square">
            <a:spAutoFit/>
          </a:bodyPr>
          <a:lstStyle/>
          <a:p>
            <a:pPr algn="l">
              <a:buNone/>
            </a:pPr>
            <a:br>
              <a:rPr lang="ru-RU" b="1" i="0" dirty="0">
                <a:solidFill>
                  <a:srgbClr val="000000"/>
                </a:solidFill>
                <a:effectLst/>
                <a:latin typeface="Montserrat" panose="00000500000000000000" pitchFamily="2" charset="-52"/>
              </a:rPr>
            </a:br>
            <a:r>
              <a:rPr lang="ru-RU" b="1" i="0" dirty="0">
                <a:solidFill>
                  <a:srgbClr val="000000"/>
                </a:solidFill>
                <a:effectLst/>
                <a:latin typeface="Montserrat" panose="00000500000000000000" pitchFamily="2" charset="-52"/>
              </a:rPr>
              <a:t>Заключение</a:t>
            </a:r>
            <a:endParaRPr lang="en-US" b="1" i="0" dirty="0">
              <a:solidFill>
                <a:srgbClr val="000000"/>
              </a:solidFill>
              <a:effectLst/>
              <a:latin typeface="Montserrat" panose="00000500000000000000" pitchFamily="2" charset="-52"/>
            </a:endParaRPr>
          </a:p>
          <a:p>
            <a:pPr algn="l">
              <a:buNone/>
            </a:pPr>
            <a:endParaRPr lang="en-US" b="1" dirty="0">
              <a:solidFill>
                <a:srgbClr val="000000"/>
              </a:solidFill>
              <a:latin typeface="Montserrat" panose="00000500000000000000" pitchFamily="2" charset="-52"/>
            </a:endParaRPr>
          </a:p>
          <a:p>
            <a:pPr algn="l">
              <a:buNone/>
            </a:pPr>
            <a:endParaRPr lang="ru-RU" b="0" i="0" dirty="0">
              <a:solidFill>
                <a:srgbClr val="000000"/>
              </a:solidFill>
              <a:effectLst/>
              <a:latin typeface="Montserrat" panose="00000500000000000000" pitchFamily="2" charset="-52"/>
            </a:endParaRPr>
          </a:p>
          <a:p>
            <a:pPr algn="l">
              <a:buNone/>
            </a:pPr>
            <a:r>
              <a:rPr lang="ru-RU" b="0" i="0" dirty="0">
                <a:solidFill>
                  <a:srgbClr val="000000"/>
                </a:solidFill>
                <a:effectLst/>
                <a:latin typeface="Montserrat" panose="00000500000000000000" pitchFamily="2" charset="-52"/>
              </a:rPr>
              <a:t>Сегодня важно не просто хранить файлы, а управлять цифровым наследием. Главная цель — чтобы через десятилетия документы оставались доступными, читаемыми и достоверными. Это требует системной работы: от выбора форматов и носителей до подготовки специалистов и разработки стандартов.</a:t>
            </a:r>
          </a:p>
          <a:p>
            <a:pPr>
              <a:buNone/>
            </a:pPr>
            <a:br>
              <a:rPr lang="ru-RU" dirty="0"/>
            </a:br>
            <a:endParaRPr lang="ru-RU" dirty="0"/>
          </a:p>
        </p:txBody>
      </p:sp>
    </p:spTree>
    <p:extLst>
      <p:ext uri="{BB962C8B-B14F-4D97-AF65-F5344CB8AC3E}">
        <p14:creationId xmlns:p14="http://schemas.microsoft.com/office/powerpoint/2010/main" val="4023067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a16="http://schemas.microsoft.com/office/drawing/2014/main" id="{E1F138F8-A2F9-A9E0-05EE-E4D1DFDF9ABE}"/>
              </a:ext>
            </a:extLst>
          </p:cNvPr>
          <p:cNvPicPr>
            <a:picLocks noChangeAspect="1"/>
          </p:cNvPicPr>
          <p:nvPr/>
        </p:nvPicPr>
        <p:blipFill>
          <a:blip r:embed="rId2"/>
          <a:stretch>
            <a:fillRect/>
          </a:stretch>
        </p:blipFill>
        <p:spPr>
          <a:xfrm>
            <a:off x="485905" y="519393"/>
            <a:ext cx="1018799" cy="1101062"/>
          </a:xfrm>
          <a:prstGeom prst="rect">
            <a:avLst/>
          </a:prstGeom>
        </p:spPr>
      </p:pic>
      <p:sp>
        <p:nvSpPr>
          <p:cNvPr id="8" name="TextBox 7">
            <a:extLst>
              <a:ext uri="{FF2B5EF4-FFF2-40B4-BE49-F238E27FC236}">
                <a16:creationId xmlns:a16="http://schemas.microsoft.com/office/drawing/2014/main" id="{0A03AEB4-E31E-E39F-0E11-9FEB7997212C}"/>
              </a:ext>
            </a:extLst>
          </p:cNvPr>
          <p:cNvSpPr txBox="1"/>
          <p:nvPr/>
        </p:nvSpPr>
        <p:spPr>
          <a:xfrm>
            <a:off x="3904490" y="21316"/>
            <a:ext cx="5410200" cy="3785652"/>
          </a:xfrm>
          <a:prstGeom prst="rect">
            <a:avLst/>
          </a:prstGeom>
          <a:noFill/>
        </p:spPr>
        <p:txBody>
          <a:bodyPr wrap="square" rtlCol="0">
            <a:spAutoFit/>
          </a:bodyPr>
          <a:lstStyle/>
          <a:p>
            <a:br>
              <a:rPr lang="ru-RU" sz="4000" b="1" dirty="0"/>
            </a:br>
            <a:r>
              <a:rPr lang="ru-RU" sz="4000" b="1" dirty="0"/>
              <a:t>Технологическая адаптивность</a:t>
            </a:r>
            <a:endParaRPr lang="ru-RU" sz="4000" dirty="0"/>
          </a:p>
          <a:p>
            <a:br>
              <a:rPr lang="ru-RU" sz="6000" dirty="0"/>
            </a:br>
            <a:endParaRPr lang="ru-RU" sz="6000" b="1" dirty="0">
              <a:solidFill>
                <a:srgbClr val="E63E11"/>
              </a:solidFill>
              <a:latin typeface="Cera Pro" panose="00000500000000000000" pitchFamily="2" charset="0"/>
            </a:endParaRPr>
          </a:p>
        </p:txBody>
      </p:sp>
      <p:sp>
        <p:nvSpPr>
          <p:cNvPr id="9" name="TextBox 8">
            <a:extLst>
              <a:ext uri="{FF2B5EF4-FFF2-40B4-BE49-F238E27FC236}">
                <a16:creationId xmlns:a16="http://schemas.microsoft.com/office/drawing/2014/main" id="{C0AE8F46-B773-C026-63A6-D70F1F5E9B86}"/>
              </a:ext>
            </a:extLst>
          </p:cNvPr>
          <p:cNvSpPr txBox="1"/>
          <p:nvPr/>
        </p:nvSpPr>
        <p:spPr>
          <a:xfrm>
            <a:off x="8577071" y="543289"/>
            <a:ext cx="3048001" cy="276999"/>
          </a:xfrm>
          <a:prstGeom prst="rect">
            <a:avLst/>
          </a:prstGeom>
          <a:noFill/>
        </p:spPr>
        <p:txBody>
          <a:bodyPr wrap="square" rtlCol="0">
            <a:spAutoFit/>
          </a:bodyPr>
          <a:lstStyle/>
          <a:p>
            <a:pPr algn="r"/>
            <a:r>
              <a:rPr lang="ru-RU" sz="1200" dirty="0">
                <a:solidFill>
                  <a:srgbClr val="222322">
                    <a:alpha val="60000"/>
                  </a:srgbClr>
                </a:solidFill>
                <a:latin typeface="DIN Pro Medium" panose="020B0604020101020102" pitchFamily="34" charset="0"/>
                <a:cs typeface="DIN Pro Medium" panose="020B0604020101020102" pitchFamily="34" charset="0"/>
              </a:rPr>
              <a:t>Заголовок вашего проекта/тема</a:t>
            </a:r>
          </a:p>
        </p:txBody>
      </p:sp>
      <p:sp>
        <p:nvSpPr>
          <p:cNvPr id="3" name="TextBox 2">
            <a:extLst>
              <a:ext uri="{FF2B5EF4-FFF2-40B4-BE49-F238E27FC236}">
                <a16:creationId xmlns:a16="http://schemas.microsoft.com/office/drawing/2014/main" id="{8DCAB9B9-CBB2-B47F-E567-94FBE37AA782}"/>
              </a:ext>
            </a:extLst>
          </p:cNvPr>
          <p:cNvSpPr txBox="1"/>
          <p:nvPr/>
        </p:nvSpPr>
        <p:spPr>
          <a:xfrm>
            <a:off x="1504704" y="2164410"/>
            <a:ext cx="6096000" cy="923330"/>
          </a:xfrm>
          <a:prstGeom prst="rect">
            <a:avLst/>
          </a:prstGeom>
          <a:noFill/>
        </p:spPr>
        <p:txBody>
          <a:bodyPr wrap="square">
            <a:spAutoFit/>
          </a:bodyPr>
          <a:lstStyle/>
          <a:p>
            <a:r>
              <a:rPr lang="ru-RU" b="0" i="0" dirty="0">
                <a:solidFill>
                  <a:srgbClr val="000000"/>
                </a:solidFill>
                <a:effectLst/>
                <a:latin typeface="Montserrat" panose="00000500000000000000" pitchFamily="2" charset="-52"/>
              </a:rPr>
              <a:t>Использование открытых форматов обеспечивает независимость от проприетарных программных решений.</a:t>
            </a:r>
            <a:endParaRPr lang="ru-RU" dirty="0"/>
          </a:p>
        </p:txBody>
      </p:sp>
      <p:cxnSp>
        <p:nvCxnSpPr>
          <p:cNvPr id="6" name="Прямая соединительная линия 5">
            <a:extLst>
              <a:ext uri="{FF2B5EF4-FFF2-40B4-BE49-F238E27FC236}">
                <a16:creationId xmlns:a16="http://schemas.microsoft.com/office/drawing/2014/main" id="{37EC07B4-1C57-102C-9C87-BA85854B4EDB}"/>
              </a:ext>
            </a:extLst>
          </p:cNvPr>
          <p:cNvCxnSpPr/>
          <p:nvPr/>
        </p:nvCxnSpPr>
        <p:spPr>
          <a:xfrm>
            <a:off x="1504704" y="3291840"/>
            <a:ext cx="10120368"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4BA8B7C-F9C0-73F1-2C6B-8DD5BEFF083D}"/>
              </a:ext>
            </a:extLst>
          </p:cNvPr>
          <p:cNvSpPr txBox="1"/>
          <p:nvPr/>
        </p:nvSpPr>
        <p:spPr>
          <a:xfrm>
            <a:off x="1413769" y="3560290"/>
            <a:ext cx="4682231" cy="1754326"/>
          </a:xfrm>
          <a:prstGeom prst="rect">
            <a:avLst/>
          </a:prstGeom>
          <a:noFill/>
        </p:spPr>
        <p:txBody>
          <a:bodyPr wrap="square">
            <a:spAutoFit/>
          </a:bodyPr>
          <a:lstStyle/>
          <a:p>
            <a:r>
              <a:rPr lang="ru-RU" b="0" i="0" dirty="0">
                <a:solidFill>
                  <a:srgbClr val="000000"/>
                </a:solidFill>
                <a:effectLst/>
                <a:latin typeface="Montserrat" panose="00000500000000000000" pitchFamily="2" charset="-52"/>
              </a:rPr>
              <a:t>Регулярная миграция позволяет предотвратить технологическое устаревание архивных материалов. Это снижает риски потери данных и упрощает обмен информацией между различными системами.</a:t>
            </a:r>
            <a:endParaRPr lang="ru-RU" dirty="0"/>
          </a:p>
        </p:txBody>
      </p:sp>
      <p:sp>
        <p:nvSpPr>
          <p:cNvPr id="13" name="TextBox 12">
            <a:extLst>
              <a:ext uri="{FF2B5EF4-FFF2-40B4-BE49-F238E27FC236}">
                <a16:creationId xmlns:a16="http://schemas.microsoft.com/office/drawing/2014/main" id="{168ECD29-7881-3EE3-F8F1-DA72EA2FF375}"/>
              </a:ext>
            </a:extLst>
          </p:cNvPr>
          <p:cNvSpPr txBox="1"/>
          <p:nvPr/>
        </p:nvSpPr>
        <p:spPr>
          <a:xfrm>
            <a:off x="6763512" y="3595345"/>
            <a:ext cx="4861560" cy="923330"/>
          </a:xfrm>
          <a:prstGeom prst="rect">
            <a:avLst/>
          </a:prstGeom>
          <a:noFill/>
        </p:spPr>
        <p:txBody>
          <a:bodyPr wrap="square">
            <a:spAutoFit/>
          </a:bodyPr>
          <a:lstStyle/>
          <a:p>
            <a:r>
              <a:rPr lang="ru-RU" b="0" i="0" dirty="0">
                <a:solidFill>
                  <a:srgbClr val="000000"/>
                </a:solidFill>
                <a:effectLst/>
                <a:latin typeface="Montserrat" panose="00000500000000000000" pitchFamily="2" charset="-52"/>
              </a:rPr>
              <a:t>Открытые форматы способствуют совместимости и взаимодействию между различными приложениями.</a:t>
            </a:r>
            <a:endParaRPr lang="ru-RU" dirty="0"/>
          </a:p>
        </p:txBody>
      </p:sp>
    </p:spTree>
    <p:extLst>
      <p:ext uri="{BB962C8B-B14F-4D97-AF65-F5344CB8AC3E}">
        <p14:creationId xmlns:p14="http://schemas.microsoft.com/office/powerpoint/2010/main" val="2180506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a16="http://schemas.microsoft.com/office/drawing/2014/main" id="{E1F138F8-A2F9-A9E0-05EE-E4D1DFDF9ABE}"/>
              </a:ext>
            </a:extLst>
          </p:cNvPr>
          <p:cNvPicPr>
            <a:picLocks noChangeAspect="1"/>
          </p:cNvPicPr>
          <p:nvPr/>
        </p:nvPicPr>
        <p:blipFill>
          <a:blip r:embed="rId2"/>
          <a:stretch>
            <a:fillRect/>
          </a:stretch>
        </p:blipFill>
        <p:spPr>
          <a:xfrm>
            <a:off x="485905" y="519393"/>
            <a:ext cx="1018799" cy="1101062"/>
          </a:xfrm>
          <a:prstGeom prst="rect">
            <a:avLst/>
          </a:prstGeom>
        </p:spPr>
      </p:pic>
      <p:sp>
        <p:nvSpPr>
          <p:cNvPr id="8" name="TextBox 7">
            <a:extLst>
              <a:ext uri="{FF2B5EF4-FFF2-40B4-BE49-F238E27FC236}">
                <a16:creationId xmlns:a16="http://schemas.microsoft.com/office/drawing/2014/main" id="{0A03AEB4-E31E-E39F-0E11-9FEB7997212C}"/>
              </a:ext>
            </a:extLst>
          </p:cNvPr>
          <p:cNvSpPr txBox="1"/>
          <p:nvPr/>
        </p:nvSpPr>
        <p:spPr>
          <a:xfrm>
            <a:off x="3390899" y="436984"/>
            <a:ext cx="5410200" cy="1938992"/>
          </a:xfrm>
          <a:prstGeom prst="rect">
            <a:avLst/>
          </a:prstGeom>
          <a:noFill/>
        </p:spPr>
        <p:txBody>
          <a:bodyPr wrap="square" rtlCol="0">
            <a:spAutoFit/>
          </a:bodyPr>
          <a:lstStyle/>
          <a:p>
            <a:pPr algn="ctr"/>
            <a:r>
              <a:rPr lang="ru-RU" sz="4000" b="1" dirty="0"/>
              <a:t>Организационно-управленческие меры</a:t>
            </a:r>
            <a:endParaRPr lang="ru-RU" sz="4000" b="1" dirty="0">
              <a:solidFill>
                <a:srgbClr val="E63E11"/>
              </a:solidFill>
              <a:latin typeface="Cera Pro" panose="00000500000000000000" pitchFamily="2" charset="0"/>
            </a:endParaRPr>
          </a:p>
        </p:txBody>
      </p:sp>
      <p:sp>
        <p:nvSpPr>
          <p:cNvPr id="16" name="TextBox 15">
            <a:extLst>
              <a:ext uri="{FF2B5EF4-FFF2-40B4-BE49-F238E27FC236}">
                <a16:creationId xmlns:a16="http://schemas.microsoft.com/office/drawing/2014/main" id="{F2ADB457-5B89-2EB7-8AD7-33709C5E845D}"/>
              </a:ext>
            </a:extLst>
          </p:cNvPr>
          <p:cNvSpPr txBox="1"/>
          <p:nvPr/>
        </p:nvSpPr>
        <p:spPr>
          <a:xfrm>
            <a:off x="8577071" y="543289"/>
            <a:ext cx="3048001" cy="276999"/>
          </a:xfrm>
          <a:prstGeom prst="rect">
            <a:avLst/>
          </a:prstGeom>
          <a:noFill/>
        </p:spPr>
        <p:txBody>
          <a:bodyPr wrap="square" rtlCol="0">
            <a:spAutoFit/>
          </a:bodyPr>
          <a:lstStyle/>
          <a:p>
            <a:pPr algn="r"/>
            <a:r>
              <a:rPr lang="ru-RU" sz="1200" dirty="0">
                <a:solidFill>
                  <a:srgbClr val="222322">
                    <a:alpha val="60000"/>
                  </a:srgbClr>
                </a:solidFill>
                <a:latin typeface="DIN Pro Medium" panose="020B0604020101020102" pitchFamily="34" charset="0"/>
                <a:cs typeface="DIN Pro Medium" panose="020B0604020101020102" pitchFamily="34" charset="0"/>
              </a:rPr>
              <a:t>Заголовок вашего проекта/тема</a:t>
            </a:r>
          </a:p>
        </p:txBody>
      </p:sp>
      <p:sp>
        <p:nvSpPr>
          <p:cNvPr id="10" name="TextBox 9">
            <a:extLst>
              <a:ext uri="{FF2B5EF4-FFF2-40B4-BE49-F238E27FC236}">
                <a16:creationId xmlns:a16="http://schemas.microsoft.com/office/drawing/2014/main" id="{1C8A229A-3950-E7CA-8A3C-5C2E301A2511}"/>
              </a:ext>
            </a:extLst>
          </p:cNvPr>
          <p:cNvSpPr txBox="1"/>
          <p:nvPr/>
        </p:nvSpPr>
        <p:spPr>
          <a:xfrm>
            <a:off x="6702551" y="2389752"/>
            <a:ext cx="3797809" cy="1200329"/>
          </a:xfrm>
          <a:prstGeom prst="rect">
            <a:avLst/>
          </a:prstGeom>
          <a:noFill/>
        </p:spPr>
        <p:txBody>
          <a:bodyPr wrap="square">
            <a:spAutoFit/>
          </a:bodyPr>
          <a:lstStyle/>
          <a:p>
            <a:r>
              <a:rPr lang="ru-RU" b="0" i="0" dirty="0">
                <a:solidFill>
                  <a:srgbClr val="000000"/>
                </a:solidFill>
                <a:effectLst/>
                <a:latin typeface="Montserrat" panose="00000500000000000000" pitchFamily="2" charset="-52"/>
              </a:rPr>
              <a:t>Унифицированная система способствует повышению эффективности работы государственных архивов.</a:t>
            </a:r>
            <a:endParaRPr lang="ru-RU" dirty="0"/>
          </a:p>
        </p:txBody>
      </p:sp>
      <p:sp>
        <p:nvSpPr>
          <p:cNvPr id="12" name="TextBox 11">
            <a:extLst>
              <a:ext uri="{FF2B5EF4-FFF2-40B4-BE49-F238E27FC236}">
                <a16:creationId xmlns:a16="http://schemas.microsoft.com/office/drawing/2014/main" id="{0835174B-D40B-D2A6-36E3-7B9625C45A52}"/>
              </a:ext>
            </a:extLst>
          </p:cNvPr>
          <p:cNvSpPr txBox="1"/>
          <p:nvPr/>
        </p:nvSpPr>
        <p:spPr>
          <a:xfrm>
            <a:off x="995304" y="2389752"/>
            <a:ext cx="5100696" cy="2308324"/>
          </a:xfrm>
          <a:prstGeom prst="rect">
            <a:avLst/>
          </a:prstGeom>
          <a:noFill/>
        </p:spPr>
        <p:txBody>
          <a:bodyPr wrap="square">
            <a:spAutoFit/>
          </a:bodyPr>
          <a:lstStyle/>
          <a:p>
            <a:r>
              <a:rPr lang="ru-RU" b="0" i="0" dirty="0">
                <a:solidFill>
                  <a:srgbClr val="000000"/>
                </a:solidFill>
                <a:effectLst/>
                <a:latin typeface="Montserrat" panose="00000500000000000000" pitchFamily="2" charset="-52"/>
              </a:rPr>
              <a:t>Разработка единых стандартов и требований к форматам, структуре и порядку передачи документов в государственные архивы является основой создания унифицированной системы долговременного хранения. Это позволит обеспечить сохранность документов и облегчить их поиск.</a:t>
            </a:r>
            <a:endParaRPr lang="ru-RU" dirty="0"/>
          </a:p>
        </p:txBody>
      </p:sp>
    </p:spTree>
    <p:extLst>
      <p:ext uri="{BB962C8B-B14F-4D97-AF65-F5344CB8AC3E}">
        <p14:creationId xmlns:p14="http://schemas.microsoft.com/office/powerpoint/2010/main" val="1856959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9686521"/>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6A1336A2-8CCF-1DC7-6A3A-ABC6C6A09592}"/>
              </a:ext>
            </a:extLst>
          </p:cNvPr>
          <p:cNvPicPr>
            <a:picLocks noChangeAspect="1"/>
          </p:cNvPicPr>
          <p:nvPr/>
        </p:nvPicPr>
        <p:blipFill>
          <a:blip r:embed="rId3"/>
          <a:stretch>
            <a:fillRect/>
          </a:stretch>
        </p:blipFill>
        <p:spPr>
          <a:xfrm>
            <a:off x="0" y="198641"/>
            <a:ext cx="12192000" cy="6460718"/>
          </a:xfrm>
          <a:prstGeom prst="rect">
            <a:avLst/>
          </a:prstGeom>
        </p:spPr>
      </p:pic>
      <p:sp>
        <p:nvSpPr>
          <p:cNvPr id="6" name="Полилиния: фигура 5">
            <a:extLst>
              <a:ext uri="{FF2B5EF4-FFF2-40B4-BE49-F238E27FC236}">
                <a16:creationId xmlns:a16="http://schemas.microsoft.com/office/drawing/2014/main" id="{CA073EA8-C5E8-11F8-3B16-7E0117815B22}"/>
              </a:ext>
            </a:extLst>
          </p:cNvPr>
          <p:cNvSpPr/>
          <p:nvPr/>
        </p:nvSpPr>
        <p:spPr>
          <a:xfrm>
            <a:off x="466229" y="771163"/>
            <a:ext cx="3125447" cy="808841"/>
          </a:xfrm>
          <a:custGeom>
            <a:avLst/>
            <a:gdLst>
              <a:gd name="connsiteX0" fmla="*/ 563918 w 3125447"/>
              <a:gd name="connsiteY0" fmla="*/ 50640 h 808841"/>
              <a:gd name="connsiteX1" fmla="*/ 54632 w 3125447"/>
              <a:gd name="connsiteY1" fmla="*/ 583075 h 808841"/>
              <a:gd name="connsiteX2" fmla="*/ 1698237 w 3125447"/>
              <a:gd name="connsiteY2" fmla="*/ 768270 h 808841"/>
              <a:gd name="connsiteX3" fmla="*/ 2797832 w 3125447"/>
              <a:gd name="connsiteY3" fmla="*/ 768270 h 808841"/>
              <a:gd name="connsiteX4" fmla="*/ 3098774 w 3125447"/>
              <a:gd name="connsiteY4" fmla="*/ 328432 h 808841"/>
              <a:gd name="connsiteX5" fmla="*/ 2242247 w 3125447"/>
              <a:gd name="connsiteY5" fmla="*/ 50640 h 808841"/>
              <a:gd name="connsiteX6" fmla="*/ 563918 w 3125447"/>
              <a:gd name="connsiteY6" fmla="*/ 50640 h 80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25447" h="808841">
                <a:moveTo>
                  <a:pt x="563918" y="50640"/>
                </a:moveTo>
                <a:cubicBezTo>
                  <a:pt x="199315" y="139379"/>
                  <a:pt x="-134421" y="463470"/>
                  <a:pt x="54632" y="583075"/>
                </a:cubicBezTo>
                <a:cubicBezTo>
                  <a:pt x="243685" y="702680"/>
                  <a:pt x="1241037" y="737404"/>
                  <a:pt x="1698237" y="768270"/>
                </a:cubicBezTo>
                <a:cubicBezTo>
                  <a:pt x="2155437" y="799136"/>
                  <a:pt x="2564409" y="841576"/>
                  <a:pt x="2797832" y="768270"/>
                </a:cubicBezTo>
                <a:cubicBezTo>
                  <a:pt x="3031255" y="694964"/>
                  <a:pt x="3191371" y="448037"/>
                  <a:pt x="3098774" y="328432"/>
                </a:cubicBezTo>
                <a:cubicBezTo>
                  <a:pt x="3006177" y="208827"/>
                  <a:pt x="2662794" y="93081"/>
                  <a:pt x="2242247" y="50640"/>
                </a:cubicBezTo>
                <a:cubicBezTo>
                  <a:pt x="1821700" y="8199"/>
                  <a:pt x="928521" y="-38099"/>
                  <a:pt x="563918" y="50640"/>
                </a:cubicBezTo>
                <a:close/>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олилиния: фигура 6">
            <a:extLst>
              <a:ext uri="{FF2B5EF4-FFF2-40B4-BE49-F238E27FC236}">
                <a16:creationId xmlns:a16="http://schemas.microsoft.com/office/drawing/2014/main" id="{63348194-13DD-83F0-D303-2C70189B9BD7}"/>
              </a:ext>
            </a:extLst>
          </p:cNvPr>
          <p:cNvSpPr/>
          <p:nvPr/>
        </p:nvSpPr>
        <p:spPr>
          <a:xfrm>
            <a:off x="439779" y="1940675"/>
            <a:ext cx="2521107" cy="1255827"/>
          </a:xfrm>
          <a:custGeom>
            <a:avLst/>
            <a:gdLst>
              <a:gd name="connsiteX0" fmla="*/ 335725 w 2521107"/>
              <a:gd name="connsiteY0" fmla="*/ 38596 h 1255827"/>
              <a:gd name="connsiteX1" fmla="*/ 11634 w 2521107"/>
              <a:gd name="connsiteY1" fmla="*/ 547882 h 1255827"/>
              <a:gd name="connsiteX2" fmla="*/ 138955 w 2521107"/>
              <a:gd name="connsiteY2" fmla="*/ 1080317 h 1255827"/>
              <a:gd name="connsiteX3" fmla="*/ 763988 w 2521107"/>
              <a:gd name="connsiteY3" fmla="*/ 1253938 h 1255827"/>
              <a:gd name="connsiteX4" fmla="*/ 1724687 w 2521107"/>
              <a:gd name="connsiteY4" fmla="*/ 1149766 h 1255827"/>
              <a:gd name="connsiteX5" fmla="*/ 2071927 w 2521107"/>
              <a:gd name="connsiteY5" fmla="*/ 814100 h 1255827"/>
              <a:gd name="connsiteX6" fmla="*/ 2430743 w 2521107"/>
              <a:gd name="connsiteY6" fmla="*/ 513158 h 1255827"/>
              <a:gd name="connsiteX7" fmla="*/ 2442317 w 2521107"/>
              <a:gd name="connsiteY7" fmla="*/ 177492 h 1255827"/>
              <a:gd name="connsiteX8" fmla="*/ 1527917 w 2521107"/>
              <a:gd name="connsiteY8" fmla="*/ 61745 h 1255827"/>
              <a:gd name="connsiteX9" fmla="*/ 694540 w 2521107"/>
              <a:gd name="connsiteY9" fmla="*/ 38596 h 1255827"/>
              <a:gd name="connsiteX10" fmla="*/ 335725 w 2521107"/>
              <a:gd name="connsiteY10" fmla="*/ 38596 h 125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1107" h="1255827">
                <a:moveTo>
                  <a:pt x="335725" y="38596"/>
                </a:moveTo>
                <a:cubicBezTo>
                  <a:pt x="221907" y="123477"/>
                  <a:pt x="44429" y="374262"/>
                  <a:pt x="11634" y="547882"/>
                </a:cubicBezTo>
                <a:cubicBezTo>
                  <a:pt x="-21161" y="721502"/>
                  <a:pt x="13563" y="962641"/>
                  <a:pt x="138955" y="1080317"/>
                </a:cubicBezTo>
                <a:cubicBezTo>
                  <a:pt x="264347" y="1197993"/>
                  <a:pt x="499699" y="1242363"/>
                  <a:pt x="763988" y="1253938"/>
                </a:cubicBezTo>
                <a:cubicBezTo>
                  <a:pt x="1028277" y="1265513"/>
                  <a:pt x="1506697" y="1223072"/>
                  <a:pt x="1724687" y="1149766"/>
                </a:cubicBezTo>
                <a:cubicBezTo>
                  <a:pt x="1942677" y="1076460"/>
                  <a:pt x="1954251" y="920201"/>
                  <a:pt x="2071927" y="814100"/>
                </a:cubicBezTo>
                <a:cubicBezTo>
                  <a:pt x="2189603" y="707999"/>
                  <a:pt x="2369011" y="619259"/>
                  <a:pt x="2430743" y="513158"/>
                </a:cubicBezTo>
                <a:cubicBezTo>
                  <a:pt x="2492475" y="407057"/>
                  <a:pt x="2592788" y="252727"/>
                  <a:pt x="2442317" y="177492"/>
                </a:cubicBezTo>
                <a:cubicBezTo>
                  <a:pt x="2291846" y="102257"/>
                  <a:pt x="1819213" y="84894"/>
                  <a:pt x="1527917" y="61745"/>
                </a:cubicBezTo>
                <a:cubicBezTo>
                  <a:pt x="1236621" y="38596"/>
                  <a:pt x="895168" y="42454"/>
                  <a:pt x="694540" y="38596"/>
                </a:cubicBezTo>
                <a:cubicBezTo>
                  <a:pt x="493912" y="34738"/>
                  <a:pt x="449543" y="-46285"/>
                  <a:pt x="335725" y="38596"/>
                </a:cubicBezTo>
                <a:close/>
              </a:path>
            </a:pathLst>
          </a:custGeom>
          <a:noFill/>
          <a:ln>
            <a:solidFill>
              <a:srgbClr val="E63E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85139959"/>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B315A561-66DA-60F3-ABD6-1374880B22E3}"/>
              </a:ext>
            </a:extLst>
          </p:cNvPr>
          <p:cNvPicPr>
            <a:picLocks noChangeAspect="1"/>
          </p:cNvPicPr>
          <p:nvPr/>
        </p:nvPicPr>
        <p:blipFill>
          <a:blip r:embed="rId3"/>
          <a:stretch>
            <a:fillRect/>
          </a:stretch>
        </p:blipFill>
        <p:spPr>
          <a:xfrm>
            <a:off x="0" y="167819"/>
            <a:ext cx="12192000" cy="6522362"/>
          </a:xfrm>
          <a:prstGeom prst="rect">
            <a:avLst/>
          </a:prstGeom>
        </p:spPr>
      </p:pic>
      <p:sp>
        <p:nvSpPr>
          <p:cNvPr id="6" name="Полилиния: фигура 5">
            <a:extLst>
              <a:ext uri="{FF2B5EF4-FFF2-40B4-BE49-F238E27FC236}">
                <a16:creationId xmlns:a16="http://schemas.microsoft.com/office/drawing/2014/main" id="{CF818E0C-A028-014F-94FC-969088ACA821}"/>
              </a:ext>
            </a:extLst>
          </p:cNvPr>
          <p:cNvSpPr/>
          <p:nvPr/>
        </p:nvSpPr>
        <p:spPr>
          <a:xfrm>
            <a:off x="417369" y="636608"/>
            <a:ext cx="2571420" cy="1029531"/>
          </a:xfrm>
          <a:custGeom>
            <a:avLst/>
            <a:gdLst>
              <a:gd name="connsiteX0" fmla="*/ 57193 w 2571420"/>
              <a:gd name="connsiteY0" fmla="*/ 300941 h 1029531"/>
              <a:gd name="connsiteX1" fmla="*/ 450732 w 2571420"/>
              <a:gd name="connsiteY1" fmla="*/ 69448 h 1029531"/>
              <a:gd name="connsiteX2" fmla="*/ 1098915 w 2571420"/>
              <a:gd name="connsiteY2" fmla="*/ 0 h 1029531"/>
              <a:gd name="connsiteX3" fmla="*/ 1885993 w 2571420"/>
              <a:gd name="connsiteY3" fmla="*/ 69448 h 1029531"/>
              <a:gd name="connsiteX4" fmla="*/ 2476302 w 2571420"/>
              <a:gd name="connsiteY4" fmla="*/ 219919 h 1029531"/>
              <a:gd name="connsiteX5" fmla="*/ 2545750 w 2571420"/>
              <a:gd name="connsiteY5" fmla="*/ 752354 h 1029531"/>
              <a:gd name="connsiteX6" fmla="*/ 2221659 w 2571420"/>
              <a:gd name="connsiteY6" fmla="*/ 1018572 h 1029531"/>
              <a:gd name="connsiteX7" fmla="*/ 890570 w 2571420"/>
              <a:gd name="connsiteY7" fmla="*/ 972273 h 1029531"/>
              <a:gd name="connsiteX8" fmla="*/ 91917 w 2571420"/>
              <a:gd name="connsiteY8" fmla="*/ 914400 h 1029531"/>
              <a:gd name="connsiteX9" fmla="*/ 57193 w 2571420"/>
              <a:gd name="connsiteY9" fmla="*/ 300941 h 1029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1420" h="1029531">
                <a:moveTo>
                  <a:pt x="57193" y="300941"/>
                </a:moveTo>
                <a:cubicBezTo>
                  <a:pt x="116995" y="160116"/>
                  <a:pt x="277112" y="119605"/>
                  <a:pt x="450732" y="69448"/>
                </a:cubicBezTo>
                <a:cubicBezTo>
                  <a:pt x="624352" y="19291"/>
                  <a:pt x="859705" y="0"/>
                  <a:pt x="1098915" y="0"/>
                </a:cubicBezTo>
                <a:cubicBezTo>
                  <a:pt x="1338125" y="0"/>
                  <a:pt x="1656429" y="32795"/>
                  <a:pt x="1885993" y="69448"/>
                </a:cubicBezTo>
                <a:cubicBezTo>
                  <a:pt x="2115557" y="106101"/>
                  <a:pt x="2366343" y="106101"/>
                  <a:pt x="2476302" y="219919"/>
                </a:cubicBezTo>
                <a:cubicBezTo>
                  <a:pt x="2586261" y="333737"/>
                  <a:pt x="2588190" y="619245"/>
                  <a:pt x="2545750" y="752354"/>
                </a:cubicBezTo>
                <a:cubicBezTo>
                  <a:pt x="2503310" y="885463"/>
                  <a:pt x="2497522" y="981919"/>
                  <a:pt x="2221659" y="1018572"/>
                </a:cubicBezTo>
                <a:cubicBezTo>
                  <a:pt x="1945796" y="1055225"/>
                  <a:pt x="1245527" y="989635"/>
                  <a:pt x="890570" y="972273"/>
                </a:cubicBezTo>
                <a:cubicBezTo>
                  <a:pt x="535613" y="954911"/>
                  <a:pt x="230813" y="1024360"/>
                  <a:pt x="91917" y="914400"/>
                </a:cubicBezTo>
                <a:cubicBezTo>
                  <a:pt x="-46979" y="804441"/>
                  <a:pt x="-2609" y="441766"/>
                  <a:pt x="57193" y="300941"/>
                </a:cubicBezTo>
                <a:close/>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олилиния: фигура 6">
            <a:extLst>
              <a:ext uri="{FF2B5EF4-FFF2-40B4-BE49-F238E27FC236}">
                <a16:creationId xmlns:a16="http://schemas.microsoft.com/office/drawing/2014/main" id="{DD329A35-615C-D17E-96A5-13D8CC51968A}"/>
              </a:ext>
            </a:extLst>
          </p:cNvPr>
          <p:cNvSpPr/>
          <p:nvPr/>
        </p:nvSpPr>
        <p:spPr>
          <a:xfrm>
            <a:off x="336826" y="1778634"/>
            <a:ext cx="2918023" cy="2264733"/>
          </a:xfrm>
          <a:custGeom>
            <a:avLst/>
            <a:gdLst>
              <a:gd name="connsiteX0" fmla="*/ 160885 w 2918023"/>
              <a:gd name="connsiteY0" fmla="*/ 790946 h 2264733"/>
              <a:gd name="connsiteX1" fmla="*/ 160885 w 2918023"/>
              <a:gd name="connsiteY1" fmla="*/ 663624 h 2264733"/>
              <a:gd name="connsiteX2" fmla="*/ 369230 w 2918023"/>
              <a:gd name="connsiteY2" fmla="*/ 73315 h 2264733"/>
              <a:gd name="connsiteX3" fmla="*/ 1283630 w 2918023"/>
              <a:gd name="connsiteY3" fmla="*/ 15442 h 2264733"/>
              <a:gd name="connsiteX4" fmla="*/ 2244328 w 2918023"/>
              <a:gd name="connsiteY4" fmla="*/ 131189 h 2264733"/>
              <a:gd name="connsiteX5" fmla="*/ 2857787 w 2918023"/>
              <a:gd name="connsiteY5" fmla="*/ 374257 h 2264733"/>
              <a:gd name="connsiteX6" fmla="*/ 2823063 w 2918023"/>
              <a:gd name="connsiteY6" fmla="*/ 1034014 h 2264733"/>
              <a:gd name="connsiteX7" fmla="*/ 2221179 w 2918023"/>
              <a:gd name="connsiteY7" fmla="*/ 1797943 h 2264733"/>
              <a:gd name="connsiteX8" fmla="*/ 1526698 w 2918023"/>
              <a:gd name="connsiteY8" fmla="*/ 2237781 h 2264733"/>
              <a:gd name="connsiteX9" fmla="*/ 531275 w 2918023"/>
              <a:gd name="connsiteY9" fmla="*/ 2191482 h 2264733"/>
              <a:gd name="connsiteX10" fmla="*/ 33564 w 2918023"/>
              <a:gd name="connsiteY10" fmla="*/ 1983138 h 2264733"/>
              <a:gd name="connsiteX11" fmla="*/ 56713 w 2918023"/>
              <a:gd name="connsiteY11" fmla="*/ 1358105 h 2264733"/>
              <a:gd name="connsiteX12" fmla="*/ 160885 w 2918023"/>
              <a:gd name="connsiteY12" fmla="*/ 790946 h 2264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18023" h="2264733">
                <a:moveTo>
                  <a:pt x="160885" y="790946"/>
                </a:moveTo>
                <a:cubicBezTo>
                  <a:pt x="178247" y="675199"/>
                  <a:pt x="126161" y="783229"/>
                  <a:pt x="160885" y="663624"/>
                </a:cubicBezTo>
                <a:cubicBezTo>
                  <a:pt x="195609" y="544019"/>
                  <a:pt x="182106" y="181345"/>
                  <a:pt x="369230" y="73315"/>
                </a:cubicBezTo>
                <a:cubicBezTo>
                  <a:pt x="556354" y="-34715"/>
                  <a:pt x="971114" y="5796"/>
                  <a:pt x="1283630" y="15442"/>
                </a:cubicBezTo>
                <a:cubicBezTo>
                  <a:pt x="1596146" y="25088"/>
                  <a:pt x="1981969" y="71386"/>
                  <a:pt x="2244328" y="131189"/>
                </a:cubicBezTo>
                <a:cubicBezTo>
                  <a:pt x="2506688" y="190991"/>
                  <a:pt x="2761331" y="223786"/>
                  <a:pt x="2857787" y="374257"/>
                </a:cubicBezTo>
                <a:cubicBezTo>
                  <a:pt x="2954243" y="524728"/>
                  <a:pt x="2929164" y="796733"/>
                  <a:pt x="2823063" y="1034014"/>
                </a:cubicBezTo>
                <a:cubicBezTo>
                  <a:pt x="2716962" y="1271295"/>
                  <a:pt x="2437240" y="1597315"/>
                  <a:pt x="2221179" y="1797943"/>
                </a:cubicBezTo>
                <a:cubicBezTo>
                  <a:pt x="2005118" y="1998571"/>
                  <a:pt x="1808349" y="2172191"/>
                  <a:pt x="1526698" y="2237781"/>
                </a:cubicBezTo>
                <a:cubicBezTo>
                  <a:pt x="1245047" y="2303371"/>
                  <a:pt x="780131" y="2233922"/>
                  <a:pt x="531275" y="2191482"/>
                </a:cubicBezTo>
                <a:cubicBezTo>
                  <a:pt x="282419" y="2149042"/>
                  <a:pt x="112658" y="2122034"/>
                  <a:pt x="33564" y="1983138"/>
                </a:cubicBezTo>
                <a:cubicBezTo>
                  <a:pt x="-45530" y="1844242"/>
                  <a:pt x="37422" y="1554875"/>
                  <a:pt x="56713" y="1358105"/>
                </a:cubicBezTo>
                <a:cubicBezTo>
                  <a:pt x="76004" y="1161335"/>
                  <a:pt x="143523" y="906693"/>
                  <a:pt x="160885" y="790946"/>
                </a:cubicBezTo>
                <a:close/>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501957577"/>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443E4983-5F1E-3AF9-F703-3024AED22E0E}"/>
              </a:ext>
            </a:extLst>
          </p:cNvPr>
          <p:cNvPicPr>
            <a:picLocks noChangeAspect="1"/>
          </p:cNvPicPr>
          <p:nvPr/>
        </p:nvPicPr>
        <p:blipFill>
          <a:blip r:embed="rId3"/>
          <a:stretch>
            <a:fillRect/>
          </a:stretch>
        </p:blipFill>
        <p:spPr>
          <a:xfrm>
            <a:off x="0" y="0"/>
            <a:ext cx="12344400" cy="6858000"/>
          </a:xfrm>
          <a:prstGeom prst="rect">
            <a:avLst/>
          </a:prstGeom>
        </p:spPr>
      </p:pic>
    </p:spTree>
    <p:extLst>
      <p:ext uri="{BB962C8B-B14F-4D97-AF65-F5344CB8AC3E}">
        <p14:creationId xmlns:p14="http://schemas.microsoft.com/office/powerpoint/2010/main" val="381322996"/>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1147</TotalTime>
  <Words>544</Words>
  <Application>Microsoft Office PowerPoint</Application>
  <PresentationFormat>Широкоэкранный</PresentationFormat>
  <Paragraphs>41</Paragraphs>
  <Slides>15</Slides>
  <Notes>2</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15</vt:i4>
      </vt:variant>
    </vt:vector>
  </HeadingPairs>
  <TitlesOfParts>
    <vt:vector size="23" baseType="lpstr">
      <vt:lpstr>DIN Pro Medium</vt:lpstr>
      <vt:lpstr>Aptos Display</vt:lpstr>
      <vt:lpstr>Cera Pro</vt:lpstr>
      <vt:lpstr>Montserrat</vt:lpstr>
      <vt:lpstr>DIN Pro Bold</vt:lpstr>
      <vt:lpstr>Aptos</vt:lpstr>
      <vt:lpstr>Arial</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Maxim bobylev</dc:creator>
  <cp:lastModifiedBy>Самира Идрисова</cp:lastModifiedBy>
  <cp:revision>69</cp:revision>
  <dcterms:created xsi:type="dcterms:W3CDTF">2025-11-03T17:52:11Z</dcterms:created>
  <dcterms:modified xsi:type="dcterms:W3CDTF">2025-11-04T15:30:39Z</dcterms:modified>
</cp:coreProperties>
</file>