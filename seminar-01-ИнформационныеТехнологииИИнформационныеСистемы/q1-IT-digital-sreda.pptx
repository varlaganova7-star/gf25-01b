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7"/>
  </p:notesMasterIdLst>
  <p:sldIdLst>
    <p:sldId id="256" r:id="rId2"/>
    <p:sldId id="259" r:id="rId3"/>
    <p:sldId id="258" r:id="rId4"/>
    <p:sldId id="264" r:id="rId5"/>
    <p:sldId id="315" r:id="rId6"/>
    <p:sldId id="265" r:id="rId7"/>
    <p:sldId id="317" r:id="rId8"/>
    <p:sldId id="328" r:id="rId9"/>
    <p:sldId id="260" r:id="rId10"/>
    <p:sldId id="261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9" r:id="rId22"/>
    <p:sldId id="330" r:id="rId23"/>
    <p:sldId id="284" r:id="rId24"/>
    <p:sldId id="331" r:id="rId25"/>
    <p:sldId id="332" r:id="rId26"/>
  </p:sldIdLst>
  <p:sldSz cx="9144000" cy="5143500" type="screen16x9"/>
  <p:notesSz cx="6858000" cy="9144000"/>
  <p:embeddedFontLst>
    <p:embeddedFont>
      <p:font typeface="Bebas Neue" panose="020B0604020202020204" charset="0"/>
      <p:regular r:id="rId28"/>
    </p:embeddedFont>
    <p:embeddedFont>
      <p:font typeface="Mallanna" panose="020B0604020202020204" charset="0"/>
      <p:regular r:id="rId29"/>
    </p:embeddedFont>
    <p:embeddedFont>
      <p:font typeface="Russo One" panose="020B0604020202020204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8291E3-0A3C-4F8E-A47F-84214AD572DC}">
  <a:tblStyle styleId="{C88291E3-0A3C-4F8E-A47F-84214AD572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0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02009efd5e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02009efd5e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02009efd5e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02009efd5e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02009efd5e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02009efd5e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02009efd5e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02009efd5e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4290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023b42abe8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023b42abe8_0_5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02009efd5e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02009efd5e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8861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02009efd5e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02009efd5e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02009efd5e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02009efd5e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02009efd5e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02009efd5e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405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02009efd5e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02009efd5e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0231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02009efd5e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02009efd5e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3233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02009efd5e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02009efd5e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185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02009efd5e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02009efd5e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4310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02009efd5e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02009efd5e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8210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02009efd5e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02009efd5e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9970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02009efd5e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02009efd5e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7965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02009efd5e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02009efd5e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5066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02009efd5e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02009efd5e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2220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1026e44d2ca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1026e44d2ca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g1026e44d2ca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2" name="Google Shape;2332;g1026e44d2ca_0_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505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DFDEFC">
            <a:alpha val="75840"/>
          </a:srgbClr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1238850"/>
            <a:ext cx="61449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547425"/>
            <a:ext cx="38187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97400" y="3655442"/>
            <a:ext cx="3124200" cy="3009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15100" y="2237150"/>
            <a:ext cx="4061700" cy="108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1458875"/>
            <a:ext cx="1498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715100" y="3322250"/>
            <a:ext cx="4061700" cy="31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98351" y="198550"/>
            <a:ext cx="4725399" cy="47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 rot="-2699374">
            <a:off x="7074579" y="1530727"/>
            <a:ext cx="1165241" cy="307167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 rot="-2700626">
            <a:off x="6867347" y="2007355"/>
            <a:ext cx="1164817" cy="2417457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378808" y="2461128"/>
            <a:ext cx="3645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378800" y="3150975"/>
            <a:ext cx="3658500" cy="13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pic>
        <p:nvPicPr>
          <p:cNvPr id="40" name="Google Shape;4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0273" y="-1667375"/>
            <a:ext cx="3388475" cy="338847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/>
          <p:nvPr/>
        </p:nvSpPr>
        <p:spPr>
          <a:xfrm rot="-8606991">
            <a:off x="8465587" y="307917"/>
            <a:ext cx="817093" cy="1695506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7"/>
          <p:cNvSpPr/>
          <p:nvPr/>
        </p:nvSpPr>
        <p:spPr>
          <a:xfrm rot="-8606991">
            <a:off x="8295958" y="193616"/>
            <a:ext cx="817093" cy="1695506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715100" y="1584575"/>
            <a:ext cx="6534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45" name="Google Shape;4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317975" y="-1373125"/>
            <a:ext cx="2819400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/>
          <p:nvPr/>
        </p:nvSpPr>
        <p:spPr>
          <a:xfrm rot="-3098212" flipH="1">
            <a:off x="222548" y="-731322"/>
            <a:ext cx="1031510" cy="2139014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8"/>
          <p:cNvSpPr/>
          <p:nvPr/>
        </p:nvSpPr>
        <p:spPr>
          <a:xfrm rot="-3098212" flipH="1">
            <a:off x="404609" y="-965855"/>
            <a:ext cx="1031510" cy="2139014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" name="Google Shape;4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2425" y="-884550"/>
            <a:ext cx="2981525" cy="29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160850" y="3198337"/>
            <a:ext cx="3367001" cy="34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8"/>
          <p:cNvSpPr/>
          <p:nvPr/>
        </p:nvSpPr>
        <p:spPr>
          <a:xfrm rot="-7562400">
            <a:off x="7808956" y="232963"/>
            <a:ext cx="1201326" cy="2493017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8"/>
          <p:cNvSpPr/>
          <p:nvPr/>
        </p:nvSpPr>
        <p:spPr>
          <a:xfrm rot="-7562400">
            <a:off x="8009820" y="514643"/>
            <a:ext cx="1201326" cy="2493017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8"/>
          <p:cNvSpPr/>
          <p:nvPr/>
        </p:nvSpPr>
        <p:spPr>
          <a:xfrm rot="-3098212" flipH="1">
            <a:off x="6928148" y="4297878"/>
            <a:ext cx="1031510" cy="2139014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8"/>
          <p:cNvSpPr/>
          <p:nvPr/>
        </p:nvSpPr>
        <p:spPr>
          <a:xfrm rot="-3098212" flipH="1">
            <a:off x="7110209" y="4063345"/>
            <a:ext cx="1031510" cy="2139014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826500" y="1711725"/>
            <a:ext cx="21234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2" hasCustomPrompt="1"/>
          </p:nvPr>
        </p:nvSpPr>
        <p:spPr>
          <a:xfrm>
            <a:off x="826500" y="1303800"/>
            <a:ext cx="1275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"/>
          </p:nvPr>
        </p:nvSpPr>
        <p:spPr>
          <a:xfrm>
            <a:off x="826500" y="2124400"/>
            <a:ext cx="21234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3"/>
          </p:nvPr>
        </p:nvSpPr>
        <p:spPr>
          <a:xfrm>
            <a:off x="3510300" y="1711725"/>
            <a:ext cx="21234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4" hasCustomPrompt="1"/>
          </p:nvPr>
        </p:nvSpPr>
        <p:spPr>
          <a:xfrm>
            <a:off x="3510300" y="1303800"/>
            <a:ext cx="1275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3510300" y="2124400"/>
            <a:ext cx="21234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6"/>
          </p:nvPr>
        </p:nvSpPr>
        <p:spPr>
          <a:xfrm>
            <a:off x="6194100" y="1711725"/>
            <a:ext cx="21234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6194100" y="1303800"/>
            <a:ext cx="1275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8"/>
          </p:nvPr>
        </p:nvSpPr>
        <p:spPr>
          <a:xfrm>
            <a:off x="6194100" y="2124400"/>
            <a:ext cx="21234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/>
          </p:nvPr>
        </p:nvSpPr>
        <p:spPr>
          <a:xfrm>
            <a:off x="826500" y="3501125"/>
            <a:ext cx="21234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826500" y="3093275"/>
            <a:ext cx="1275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4"/>
          </p:nvPr>
        </p:nvSpPr>
        <p:spPr>
          <a:xfrm>
            <a:off x="826500" y="3913800"/>
            <a:ext cx="21234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/>
          </p:nvPr>
        </p:nvSpPr>
        <p:spPr>
          <a:xfrm>
            <a:off x="3510300" y="3501125"/>
            <a:ext cx="21234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6" hasCustomPrompt="1"/>
          </p:nvPr>
        </p:nvSpPr>
        <p:spPr>
          <a:xfrm>
            <a:off x="3510300" y="3093275"/>
            <a:ext cx="1275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3510300" y="3913800"/>
            <a:ext cx="21234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8"/>
          </p:nvPr>
        </p:nvSpPr>
        <p:spPr>
          <a:xfrm>
            <a:off x="6194100" y="3501125"/>
            <a:ext cx="21234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19" hasCustomPrompt="1"/>
          </p:nvPr>
        </p:nvSpPr>
        <p:spPr>
          <a:xfrm>
            <a:off x="6194100" y="3093275"/>
            <a:ext cx="1275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0"/>
          </p:nvPr>
        </p:nvSpPr>
        <p:spPr>
          <a:xfrm>
            <a:off x="6194100" y="3913800"/>
            <a:ext cx="21234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87813" y="-1828575"/>
            <a:ext cx="3133725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 rot="-3636128">
            <a:off x="8690680" y="3904477"/>
            <a:ext cx="817119" cy="1695487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3"/>
          <p:cNvSpPr/>
          <p:nvPr/>
        </p:nvSpPr>
        <p:spPr>
          <a:xfrm rot="-3636128">
            <a:off x="8573216" y="4108347"/>
            <a:ext cx="817119" cy="1695487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subTitle" idx="1"/>
          </p:nvPr>
        </p:nvSpPr>
        <p:spPr>
          <a:xfrm>
            <a:off x="720000" y="2822200"/>
            <a:ext cx="4057500" cy="5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720000" y="1734463"/>
            <a:ext cx="4538400" cy="100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8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>
            <a:spLocks noGrp="1"/>
          </p:cNvSpPr>
          <p:nvPr>
            <p:ph type="title"/>
          </p:nvPr>
        </p:nvSpPr>
        <p:spPr>
          <a:xfrm>
            <a:off x="846200" y="3062075"/>
            <a:ext cx="2088900" cy="4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1"/>
          </p:nvPr>
        </p:nvSpPr>
        <p:spPr>
          <a:xfrm>
            <a:off x="846200" y="3524975"/>
            <a:ext cx="2088900" cy="66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title" idx="2"/>
          </p:nvPr>
        </p:nvSpPr>
        <p:spPr>
          <a:xfrm>
            <a:off x="3530000" y="3062075"/>
            <a:ext cx="2088900" cy="4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ubTitle" idx="3"/>
          </p:nvPr>
        </p:nvSpPr>
        <p:spPr>
          <a:xfrm>
            <a:off x="3530000" y="3524975"/>
            <a:ext cx="2088900" cy="66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title" idx="4"/>
          </p:nvPr>
        </p:nvSpPr>
        <p:spPr>
          <a:xfrm>
            <a:off x="6213800" y="3062075"/>
            <a:ext cx="2088900" cy="4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ubTitle" idx="5"/>
          </p:nvPr>
        </p:nvSpPr>
        <p:spPr>
          <a:xfrm>
            <a:off x="6213800" y="3524975"/>
            <a:ext cx="2088900" cy="66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39225" y="-303121"/>
            <a:ext cx="3102721" cy="2989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7125" y="4192175"/>
            <a:ext cx="1554175" cy="150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/>
          <p:nvPr/>
        </p:nvSpPr>
        <p:spPr>
          <a:xfrm rot="-3636814">
            <a:off x="8752772" y="-1198313"/>
            <a:ext cx="1403716" cy="2913296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2"/>
          <p:cNvSpPr/>
          <p:nvPr/>
        </p:nvSpPr>
        <p:spPr>
          <a:xfrm rot="-3636814">
            <a:off x="8550925" y="-847994"/>
            <a:ext cx="1403716" cy="2913296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>
            <a:spLocks noGrp="1"/>
          </p:cNvSpPr>
          <p:nvPr>
            <p:ph type="title"/>
          </p:nvPr>
        </p:nvSpPr>
        <p:spPr>
          <a:xfrm>
            <a:off x="720000" y="1556575"/>
            <a:ext cx="2308500" cy="7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subTitle" idx="1"/>
          </p:nvPr>
        </p:nvSpPr>
        <p:spPr>
          <a:xfrm>
            <a:off x="720000" y="2269375"/>
            <a:ext cx="2068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4"/>
          <p:cNvSpPr txBox="1">
            <a:spLocks noGrp="1"/>
          </p:cNvSpPr>
          <p:nvPr>
            <p:ph type="title" idx="2"/>
          </p:nvPr>
        </p:nvSpPr>
        <p:spPr>
          <a:xfrm>
            <a:off x="3459398" y="1556575"/>
            <a:ext cx="2308500" cy="7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subTitle" idx="3"/>
          </p:nvPr>
        </p:nvSpPr>
        <p:spPr>
          <a:xfrm>
            <a:off x="3459395" y="2269375"/>
            <a:ext cx="2068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title" idx="4"/>
          </p:nvPr>
        </p:nvSpPr>
        <p:spPr>
          <a:xfrm>
            <a:off x="720000" y="3410902"/>
            <a:ext cx="2308500" cy="7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subTitle" idx="5"/>
          </p:nvPr>
        </p:nvSpPr>
        <p:spPr>
          <a:xfrm>
            <a:off x="720000" y="4123702"/>
            <a:ext cx="2068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title" idx="6"/>
          </p:nvPr>
        </p:nvSpPr>
        <p:spPr>
          <a:xfrm>
            <a:off x="3459398" y="3410902"/>
            <a:ext cx="2308500" cy="7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subTitle" idx="7"/>
          </p:nvPr>
        </p:nvSpPr>
        <p:spPr>
          <a:xfrm>
            <a:off x="3459395" y="4123702"/>
            <a:ext cx="2068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181" name="Google Shape;181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37200" y="-2064800"/>
            <a:ext cx="3386676" cy="34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4"/>
          <p:cNvSpPr/>
          <p:nvPr/>
        </p:nvSpPr>
        <p:spPr>
          <a:xfrm rot="8709643">
            <a:off x="5854881" y="-1221025"/>
            <a:ext cx="995665" cy="206548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4"/>
          <p:cNvSpPr/>
          <p:nvPr/>
        </p:nvSpPr>
        <p:spPr>
          <a:xfrm rot="8709643">
            <a:off x="6070417" y="-1311454"/>
            <a:ext cx="995665" cy="206548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80100" y="876325"/>
            <a:ext cx="2801900" cy="28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236513" y="-953300"/>
            <a:ext cx="203835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7375" y="3151875"/>
            <a:ext cx="2551683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0"/>
          <p:cNvSpPr/>
          <p:nvPr/>
        </p:nvSpPr>
        <p:spPr>
          <a:xfrm rot="-9057554">
            <a:off x="-448749" y="2103451"/>
            <a:ext cx="844815" cy="175356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0"/>
          <p:cNvSpPr/>
          <p:nvPr/>
        </p:nvSpPr>
        <p:spPr>
          <a:xfrm rot="-9057554">
            <a:off x="-237153" y="2223673"/>
            <a:ext cx="844815" cy="175356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0"/>
          <p:cNvSpPr/>
          <p:nvPr/>
        </p:nvSpPr>
        <p:spPr>
          <a:xfrm rot="8614338">
            <a:off x="8261696" y="2540788"/>
            <a:ext cx="1041751" cy="2161919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0"/>
          <p:cNvSpPr/>
          <p:nvPr/>
        </p:nvSpPr>
        <p:spPr>
          <a:xfrm rot="8614338">
            <a:off x="8504750" y="2364917"/>
            <a:ext cx="1041751" cy="2161919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385758" y="-1242275"/>
            <a:ext cx="3464467" cy="3464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5124" y="3398150"/>
            <a:ext cx="2833425" cy="281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1"/>
          <p:cNvSpPr/>
          <p:nvPr/>
        </p:nvSpPr>
        <p:spPr>
          <a:xfrm rot="9057554" flipH="1">
            <a:off x="7846922" y="3092551"/>
            <a:ext cx="844815" cy="175356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1"/>
          <p:cNvSpPr/>
          <p:nvPr/>
        </p:nvSpPr>
        <p:spPr>
          <a:xfrm rot="9057554" flipH="1">
            <a:off x="7635326" y="3212773"/>
            <a:ext cx="844815" cy="175356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1"/>
          <p:cNvSpPr/>
          <p:nvPr/>
        </p:nvSpPr>
        <p:spPr>
          <a:xfrm rot="7585662" flipH="1">
            <a:off x="623583" y="105826"/>
            <a:ext cx="1041751" cy="2161919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1"/>
          <p:cNvSpPr/>
          <p:nvPr/>
        </p:nvSpPr>
        <p:spPr>
          <a:xfrm rot="7585662" flipH="1">
            <a:off x="447713" y="348879"/>
            <a:ext cx="1041751" cy="2161919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DFDEFC">
            <a:alpha val="7584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usso One"/>
              <a:buNone/>
              <a:defRPr sz="3100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Char char="●"/>
              <a:defRPr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Char char="○"/>
              <a:defRPr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Char char="■"/>
              <a:defRPr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Char char="●"/>
              <a:defRPr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Char char="○"/>
              <a:defRPr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Char char="■"/>
              <a:defRPr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Char char="●"/>
              <a:defRPr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Char char="○"/>
              <a:defRPr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allanna"/>
              <a:buChar char="■"/>
              <a:defRPr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9" r:id="rId6"/>
    <p:sldLayoutId id="2147483661" r:id="rId7"/>
    <p:sldLayoutId id="2147483668" r:id="rId8"/>
    <p:sldLayoutId id="2147483670" r:id="rId9"/>
    <p:sldLayoutId id="2147483676" r:id="rId10"/>
    <p:sldLayoutId id="2147483677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400" y="3484675"/>
            <a:ext cx="2482225" cy="24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5625" y="-1498297"/>
            <a:ext cx="3999125" cy="383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5"/>
          <p:cNvSpPr/>
          <p:nvPr/>
        </p:nvSpPr>
        <p:spPr>
          <a:xfrm rot="-3636149">
            <a:off x="8329999" y="-337263"/>
            <a:ext cx="1012700" cy="2101424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5"/>
          <p:cNvSpPr/>
          <p:nvPr/>
        </p:nvSpPr>
        <p:spPr>
          <a:xfrm rot="-3636149">
            <a:off x="8184399" y="-84563"/>
            <a:ext cx="1012700" cy="2101424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5"/>
          <p:cNvSpPr txBox="1">
            <a:spLocks noGrp="1"/>
          </p:cNvSpPr>
          <p:nvPr>
            <p:ph type="ctrTitle"/>
          </p:nvPr>
        </p:nvSpPr>
        <p:spPr>
          <a:xfrm>
            <a:off x="715100" y="1238850"/>
            <a:ext cx="61449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sz="3200" b="1" dirty="0"/>
              <a:t>Понятие и состав информационных технологий как элемента цифровой среды</a:t>
            </a:r>
            <a:endParaRPr lang="ru-RU" sz="3200" dirty="0"/>
          </a:p>
        </p:txBody>
      </p:sp>
      <p:sp>
        <p:nvSpPr>
          <p:cNvPr id="286" name="Google Shape;286;p35"/>
          <p:cNvSpPr txBox="1">
            <a:spLocks noGrp="1"/>
          </p:cNvSpPr>
          <p:nvPr>
            <p:ph type="subTitle" idx="1"/>
          </p:nvPr>
        </p:nvSpPr>
        <p:spPr>
          <a:xfrm>
            <a:off x="724800" y="3699210"/>
            <a:ext cx="579042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Морозова Ирина, Корикова Арина, Васильева Дарья</a:t>
            </a:r>
            <a:endParaRPr dirty="0"/>
          </a:p>
        </p:txBody>
      </p:sp>
      <p:cxnSp>
        <p:nvCxnSpPr>
          <p:cNvPr id="287" name="Google Shape;287;p35"/>
          <p:cNvCxnSpPr/>
          <p:nvPr/>
        </p:nvCxnSpPr>
        <p:spPr>
          <a:xfrm>
            <a:off x="724800" y="1144775"/>
            <a:ext cx="615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5"/>
          <p:cNvCxnSpPr/>
          <p:nvPr/>
        </p:nvCxnSpPr>
        <p:spPr>
          <a:xfrm>
            <a:off x="734500" y="3547421"/>
            <a:ext cx="6150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9" name="Google Shape;289;p35"/>
          <p:cNvSpPr/>
          <p:nvPr/>
        </p:nvSpPr>
        <p:spPr>
          <a:xfrm rot="-9036128">
            <a:off x="7072913" y="3056217"/>
            <a:ext cx="817119" cy="1695487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5"/>
          <p:cNvSpPr/>
          <p:nvPr/>
        </p:nvSpPr>
        <p:spPr>
          <a:xfrm rot="-9036128">
            <a:off x="7276782" y="3173681"/>
            <a:ext cx="817119" cy="1695487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1" name="Google Shape;29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5725" y="-1121000"/>
            <a:ext cx="2038350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8"/>
          <p:cNvPicPr preferRelativeResize="0"/>
          <p:nvPr/>
        </p:nvPicPr>
        <p:blipFill rotWithShape="1">
          <a:blip r:embed="rId3">
            <a:alphaModFix/>
          </a:blip>
          <a:srcRect l="19847" t="22086" r="20189" b="15682"/>
          <a:stretch/>
        </p:blipFill>
        <p:spPr>
          <a:xfrm flipH="1">
            <a:off x="5280900" y="874825"/>
            <a:ext cx="3409850" cy="34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8"/>
          <p:cNvSpPr/>
          <p:nvPr/>
        </p:nvSpPr>
        <p:spPr>
          <a:xfrm rot="-8099382">
            <a:off x="6664712" y="1233901"/>
            <a:ext cx="1180939" cy="311325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8"/>
          <p:cNvSpPr/>
          <p:nvPr/>
        </p:nvSpPr>
        <p:spPr>
          <a:xfrm rot="-8100618">
            <a:off x="6816631" y="1775367"/>
            <a:ext cx="1180515" cy="2450549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8"/>
          <p:cNvSpPr txBox="1">
            <a:spLocks noGrp="1"/>
          </p:cNvSpPr>
          <p:nvPr>
            <p:ph type="title"/>
          </p:nvPr>
        </p:nvSpPr>
        <p:spPr>
          <a:xfrm>
            <a:off x="624364" y="1142265"/>
            <a:ext cx="4233000" cy="100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3200" dirty="0"/>
              <a:t>Информационные технологии</a:t>
            </a:r>
            <a:endParaRPr sz="3200" dirty="0"/>
          </a:p>
        </p:txBody>
      </p:sp>
      <p:sp>
        <p:nvSpPr>
          <p:cNvPr id="332" name="Google Shape;332;p38"/>
          <p:cNvSpPr txBox="1">
            <a:spLocks noGrp="1"/>
          </p:cNvSpPr>
          <p:nvPr>
            <p:ph type="subTitle" idx="1"/>
          </p:nvPr>
        </p:nvSpPr>
        <p:spPr>
          <a:xfrm>
            <a:off x="453250" y="2082800"/>
            <a:ext cx="4316364" cy="23716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2400" indent="0"/>
            <a:r>
              <a:rPr lang="ru-RU" sz="1400" b="1" dirty="0">
                <a:solidFill>
                  <a:schemeClr val="bg2">
                    <a:lumMod val="60000"/>
                    <a:lumOff val="40000"/>
                  </a:schemeClr>
                </a:solidFill>
                <a:cs typeface="Dubai" panose="020B0503030403030204" pitchFamily="34" charset="-78"/>
              </a:rPr>
              <a:t>Информационные технологии </a:t>
            </a:r>
            <a:r>
              <a:rPr lang="ru-RU" sz="1400" dirty="0">
                <a:cs typeface="Dubai" panose="020B0503030403030204" pitchFamily="34" charset="-78"/>
              </a:rPr>
              <a:t>– совокупность методов, производственных процессов и технических средств, объединенная технологическим процессом и обеспечивающая сбор, хранение, обработку, вывод и распространение информации для снижения трудоемкости процессов использования информационных ресурсов, повышения их надежности и оперативности.</a:t>
            </a:r>
          </a:p>
        </p:txBody>
      </p:sp>
      <p:cxnSp>
        <p:nvCxnSpPr>
          <p:cNvPr id="333" name="Google Shape;333;p38"/>
          <p:cNvCxnSpPr/>
          <p:nvPr/>
        </p:nvCxnSpPr>
        <p:spPr>
          <a:xfrm>
            <a:off x="624364" y="874825"/>
            <a:ext cx="4213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38"/>
          <p:cNvCxnSpPr/>
          <p:nvPr/>
        </p:nvCxnSpPr>
        <p:spPr>
          <a:xfrm>
            <a:off x="604564" y="4467544"/>
            <a:ext cx="4233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631371" y="1430358"/>
            <a:ext cx="21234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Данные</a:t>
            </a:r>
            <a:endParaRPr dirty="0"/>
          </a:p>
        </p:txBody>
      </p:sp>
      <p:sp>
        <p:nvSpPr>
          <p:cNvPr id="305" name="Google Shape;305;p37"/>
          <p:cNvSpPr txBox="1">
            <a:spLocks noGrp="1"/>
          </p:cNvSpPr>
          <p:nvPr>
            <p:ph type="subTitle" idx="1"/>
          </p:nvPr>
        </p:nvSpPr>
        <p:spPr>
          <a:xfrm>
            <a:off x="631371" y="2072963"/>
            <a:ext cx="21234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Предмет (объект) обработки (процесса) </a:t>
            </a:r>
            <a:endParaRPr dirty="0"/>
          </a:p>
        </p:txBody>
      </p:sp>
      <p:sp>
        <p:nvSpPr>
          <p:cNvPr id="308" name="Google Shape;308;p37"/>
          <p:cNvSpPr txBox="1">
            <a:spLocks noGrp="1"/>
          </p:cNvSpPr>
          <p:nvPr>
            <p:ph type="subTitle" idx="5"/>
          </p:nvPr>
        </p:nvSpPr>
        <p:spPr>
          <a:xfrm>
            <a:off x="2835386" y="2069746"/>
            <a:ext cx="1664043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Получение информации</a:t>
            </a:r>
            <a:endParaRPr dirty="0"/>
          </a:p>
        </p:txBody>
      </p:sp>
      <p:sp>
        <p:nvSpPr>
          <p:cNvPr id="309" name="Google Shape;309;p37"/>
          <p:cNvSpPr txBox="1">
            <a:spLocks noGrp="1"/>
          </p:cNvSpPr>
          <p:nvPr>
            <p:ph type="title" idx="6"/>
          </p:nvPr>
        </p:nvSpPr>
        <p:spPr>
          <a:xfrm>
            <a:off x="4528736" y="1322664"/>
            <a:ext cx="3526971" cy="7483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000" dirty="0"/>
              <a:t>Средства осуществления процесса </a:t>
            </a:r>
            <a:endParaRPr sz="2000" dirty="0"/>
          </a:p>
        </p:txBody>
      </p:sp>
      <p:sp>
        <p:nvSpPr>
          <p:cNvPr id="311" name="Google Shape;311;p37"/>
          <p:cNvSpPr txBox="1">
            <a:spLocks noGrp="1"/>
          </p:cNvSpPr>
          <p:nvPr>
            <p:ph type="subTitle" idx="8"/>
          </p:nvPr>
        </p:nvSpPr>
        <p:spPr>
          <a:xfrm>
            <a:off x="4528736" y="2194561"/>
            <a:ext cx="3381828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программные, аппаратные и программно-аппаратные вычислительные комплексы</a:t>
            </a:r>
            <a:endParaRPr dirty="0"/>
          </a:p>
        </p:txBody>
      </p:sp>
      <p:sp>
        <p:nvSpPr>
          <p:cNvPr id="312" name="Google Shape;312;p37"/>
          <p:cNvSpPr txBox="1">
            <a:spLocks noGrp="1"/>
          </p:cNvSpPr>
          <p:nvPr>
            <p:ph type="title" idx="9"/>
          </p:nvPr>
        </p:nvSpPr>
        <p:spPr>
          <a:xfrm>
            <a:off x="505306" y="3311975"/>
            <a:ext cx="2765787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000" dirty="0"/>
              <a:t>Процессы обработки данных </a:t>
            </a:r>
            <a:endParaRPr sz="2000" dirty="0"/>
          </a:p>
        </p:txBody>
      </p:sp>
      <p:sp>
        <p:nvSpPr>
          <p:cNvPr id="314" name="Google Shape;314;p37"/>
          <p:cNvSpPr txBox="1">
            <a:spLocks noGrp="1"/>
          </p:cNvSpPr>
          <p:nvPr>
            <p:ph type="subTitle" idx="14"/>
          </p:nvPr>
        </p:nvSpPr>
        <p:spPr>
          <a:xfrm>
            <a:off x="505306" y="4071276"/>
            <a:ext cx="25771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разделяются на операции в соответствии с данной предметной областью</a:t>
            </a:r>
            <a:endParaRPr dirty="0"/>
          </a:p>
        </p:txBody>
      </p:sp>
      <p:sp>
        <p:nvSpPr>
          <p:cNvPr id="315" name="Google Shape;315;p37"/>
          <p:cNvSpPr txBox="1">
            <a:spLocks noGrp="1"/>
          </p:cNvSpPr>
          <p:nvPr>
            <p:ph type="title" idx="15"/>
          </p:nvPr>
        </p:nvSpPr>
        <p:spPr>
          <a:xfrm>
            <a:off x="3442435" y="3187311"/>
            <a:ext cx="2549414" cy="7735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1600" dirty="0"/>
              <a:t>Выбор управляющих воздействий на процессы </a:t>
            </a:r>
            <a:endParaRPr sz="1600" dirty="0"/>
          </a:p>
        </p:txBody>
      </p:sp>
      <p:sp>
        <p:nvSpPr>
          <p:cNvPr id="317" name="Google Shape;317;p37"/>
          <p:cNvSpPr txBox="1">
            <a:spLocks noGrp="1"/>
          </p:cNvSpPr>
          <p:nvPr>
            <p:ph type="subTitle" idx="17"/>
          </p:nvPr>
        </p:nvSpPr>
        <p:spPr>
          <a:xfrm>
            <a:off x="2949900" y="4031592"/>
            <a:ext cx="3157673" cy="66637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dirty="0"/>
              <a:t>Должен осуществляться лицами, принимающими решения</a:t>
            </a:r>
          </a:p>
        </p:txBody>
      </p:sp>
      <p:sp>
        <p:nvSpPr>
          <p:cNvPr id="318" name="Google Shape;318;p37"/>
          <p:cNvSpPr txBox="1">
            <a:spLocks noGrp="1"/>
          </p:cNvSpPr>
          <p:nvPr>
            <p:ph type="title" idx="18"/>
          </p:nvPr>
        </p:nvSpPr>
        <p:spPr>
          <a:xfrm>
            <a:off x="6034576" y="3250411"/>
            <a:ext cx="2549414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000" dirty="0"/>
              <a:t>Критерия оптимизации </a:t>
            </a:r>
            <a:endParaRPr sz="2000" dirty="0"/>
          </a:p>
        </p:txBody>
      </p:sp>
      <p:sp>
        <p:nvSpPr>
          <p:cNvPr id="320" name="Google Shape;320;p37"/>
          <p:cNvSpPr txBox="1">
            <a:spLocks noGrp="1"/>
          </p:cNvSpPr>
          <p:nvPr>
            <p:ph type="subTitle" idx="20"/>
          </p:nvPr>
        </p:nvSpPr>
        <p:spPr>
          <a:xfrm>
            <a:off x="5991849" y="4158698"/>
            <a:ext cx="2454255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своевременность доставки информации пользователю, ее надежность, достоверность, полнота</a:t>
            </a:r>
            <a:endParaRPr dirty="0"/>
          </a:p>
        </p:txBody>
      </p:sp>
      <p:sp>
        <p:nvSpPr>
          <p:cNvPr id="321" name="Google Shape;321;p37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dirty="0"/>
              <a:t>Основные свойства:</a:t>
            </a:r>
          </a:p>
        </p:txBody>
      </p:sp>
      <p:cxnSp>
        <p:nvCxnSpPr>
          <p:cNvPr id="322" name="Google Shape;322;p37"/>
          <p:cNvCxnSpPr>
            <a:cxnSpLocks/>
          </p:cNvCxnSpPr>
          <p:nvPr/>
        </p:nvCxnSpPr>
        <p:spPr>
          <a:xfrm>
            <a:off x="631371" y="1181325"/>
            <a:ext cx="7533304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37"/>
          <p:cNvCxnSpPr>
            <a:cxnSpLocks/>
          </p:cNvCxnSpPr>
          <p:nvPr/>
        </p:nvCxnSpPr>
        <p:spPr>
          <a:xfrm>
            <a:off x="573314" y="2964600"/>
            <a:ext cx="7591556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EE806F6-DA4C-4262-865D-7A0E97578F86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2835385" y="1424522"/>
            <a:ext cx="2123400" cy="437400"/>
          </a:xfrm>
        </p:spPr>
        <p:txBody>
          <a:bodyPr/>
          <a:lstStyle/>
          <a:p>
            <a:r>
              <a:rPr lang="ru-RU" dirty="0"/>
              <a:t>Цель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3"/>
          <p:cNvSpPr txBox="1">
            <a:spLocks noGrp="1"/>
          </p:cNvSpPr>
          <p:nvPr>
            <p:ph type="title" idx="6"/>
          </p:nvPr>
        </p:nvSpPr>
        <p:spPr>
          <a:xfrm>
            <a:off x="737600" y="558535"/>
            <a:ext cx="7704000" cy="9918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3200" dirty="0"/>
              <a:t>Классы информационных технологий</a:t>
            </a:r>
            <a:endParaRPr sz="3200" dirty="0"/>
          </a:p>
        </p:txBody>
      </p:sp>
      <p:sp>
        <p:nvSpPr>
          <p:cNvPr id="393" name="Google Shape;393;p43"/>
          <p:cNvSpPr txBox="1">
            <a:spLocks noGrp="1"/>
          </p:cNvSpPr>
          <p:nvPr>
            <p:ph type="title"/>
          </p:nvPr>
        </p:nvSpPr>
        <p:spPr>
          <a:xfrm>
            <a:off x="846199" y="3062075"/>
            <a:ext cx="2180029" cy="4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Глобальные</a:t>
            </a:r>
            <a:endParaRPr dirty="0"/>
          </a:p>
        </p:txBody>
      </p:sp>
      <p:sp>
        <p:nvSpPr>
          <p:cNvPr id="394" name="Google Shape;394;p43"/>
          <p:cNvSpPr txBox="1">
            <a:spLocks noGrp="1"/>
          </p:cNvSpPr>
          <p:nvPr>
            <p:ph type="subTitle" idx="1"/>
          </p:nvPr>
        </p:nvSpPr>
        <p:spPr>
          <a:xfrm>
            <a:off x="665456" y="3524975"/>
            <a:ext cx="2451088" cy="9918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lvl="0"/>
            <a:r>
              <a:rPr lang="ru-RU" dirty="0"/>
              <a:t>позволяют использовать информационные ресурсы общества в целом.</a:t>
            </a:r>
          </a:p>
        </p:txBody>
      </p:sp>
      <p:sp>
        <p:nvSpPr>
          <p:cNvPr id="395" name="Google Shape;395;p43"/>
          <p:cNvSpPr txBox="1">
            <a:spLocks noGrp="1"/>
          </p:cNvSpPr>
          <p:nvPr>
            <p:ph type="title" idx="2"/>
          </p:nvPr>
        </p:nvSpPr>
        <p:spPr>
          <a:xfrm>
            <a:off x="3530000" y="3062075"/>
            <a:ext cx="2088900" cy="4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Базовые</a:t>
            </a:r>
            <a:endParaRPr dirty="0"/>
          </a:p>
        </p:txBody>
      </p:sp>
      <p:sp>
        <p:nvSpPr>
          <p:cNvPr id="396" name="Google Shape;396;p43"/>
          <p:cNvSpPr txBox="1">
            <a:spLocks noGrp="1"/>
          </p:cNvSpPr>
          <p:nvPr>
            <p:ph type="subTitle" idx="3"/>
          </p:nvPr>
        </p:nvSpPr>
        <p:spPr>
          <a:xfrm>
            <a:off x="3530000" y="3615793"/>
            <a:ext cx="2088900" cy="66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предназначены для определенной области применения </a:t>
            </a:r>
            <a:endParaRPr dirty="0"/>
          </a:p>
        </p:txBody>
      </p:sp>
      <p:sp>
        <p:nvSpPr>
          <p:cNvPr id="397" name="Google Shape;397;p43"/>
          <p:cNvSpPr txBox="1">
            <a:spLocks noGrp="1"/>
          </p:cNvSpPr>
          <p:nvPr>
            <p:ph type="title" idx="4"/>
          </p:nvPr>
        </p:nvSpPr>
        <p:spPr>
          <a:xfrm>
            <a:off x="6122672" y="3062075"/>
            <a:ext cx="2603629" cy="4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Конкретные </a:t>
            </a:r>
            <a:r>
              <a:rPr lang="en-US" dirty="0"/>
              <a:t>IT</a:t>
            </a:r>
            <a:endParaRPr dirty="0"/>
          </a:p>
        </p:txBody>
      </p:sp>
      <p:sp>
        <p:nvSpPr>
          <p:cNvPr id="398" name="Google Shape;398;p43"/>
          <p:cNvSpPr txBox="1">
            <a:spLocks noGrp="1"/>
          </p:cNvSpPr>
          <p:nvPr>
            <p:ph type="subTitle" idx="5"/>
          </p:nvPr>
        </p:nvSpPr>
        <p:spPr>
          <a:xfrm>
            <a:off x="6206648" y="3619830"/>
            <a:ext cx="2088900" cy="10786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реализуют обработку данных при решении конкретных функциональных задач пользователя </a:t>
            </a:r>
            <a:endParaRPr dirty="0"/>
          </a:p>
        </p:txBody>
      </p:sp>
      <p:cxnSp>
        <p:nvCxnSpPr>
          <p:cNvPr id="399" name="Google Shape;399;p43"/>
          <p:cNvCxnSpPr/>
          <p:nvPr/>
        </p:nvCxnSpPr>
        <p:spPr>
          <a:xfrm>
            <a:off x="6213800" y="2978450"/>
            <a:ext cx="2083500" cy="0"/>
          </a:xfrm>
          <a:prstGeom prst="straightConnector1">
            <a:avLst/>
          </a:prstGeom>
          <a:noFill/>
          <a:ln w="19050" cap="flat" cmpd="sng">
            <a:solidFill>
              <a:srgbClr val="29235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0" name="Google Shape;400;p43"/>
          <p:cNvCxnSpPr/>
          <p:nvPr/>
        </p:nvCxnSpPr>
        <p:spPr>
          <a:xfrm>
            <a:off x="3560300" y="2978450"/>
            <a:ext cx="2058600" cy="0"/>
          </a:xfrm>
          <a:prstGeom prst="straightConnector1">
            <a:avLst/>
          </a:prstGeom>
          <a:noFill/>
          <a:ln w="19050" cap="flat" cmpd="sng">
            <a:solidFill>
              <a:srgbClr val="29235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1" name="Google Shape;401;p43"/>
          <p:cNvCxnSpPr/>
          <p:nvPr/>
        </p:nvCxnSpPr>
        <p:spPr>
          <a:xfrm>
            <a:off x="841300" y="2978450"/>
            <a:ext cx="2099400" cy="0"/>
          </a:xfrm>
          <a:prstGeom prst="straightConnector1">
            <a:avLst/>
          </a:prstGeom>
          <a:noFill/>
          <a:ln w="19050" cap="flat" cmpd="sng">
            <a:solidFill>
              <a:srgbClr val="29235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11169;p86">
            <a:extLst>
              <a:ext uri="{FF2B5EF4-FFF2-40B4-BE49-F238E27FC236}">
                <a16:creationId xmlns:a16="http://schemas.microsoft.com/office/drawing/2014/main" id="{02F34FB0-1016-4F00-BA0D-2E769D5BCE07}"/>
              </a:ext>
            </a:extLst>
          </p:cNvPr>
          <p:cNvSpPr/>
          <p:nvPr/>
        </p:nvSpPr>
        <p:spPr>
          <a:xfrm>
            <a:off x="1546142" y="2326136"/>
            <a:ext cx="559153" cy="491228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9" name="Google Shape;11170;p86">
            <a:extLst>
              <a:ext uri="{FF2B5EF4-FFF2-40B4-BE49-F238E27FC236}">
                <a16:creationId xmlns:a16="http://schemas.microsoft.com/office/drawing/2014/main" id="{6E107BA7-BC23-4E5A-AEE5-FB7248C6FF49}"/>
              </a:ext>
            </a:extLst>
          </p:cNvPr>
          <p:cNvGrpSpPr/>
          <p:nvPr/>
        </p:nvGrpSpPr>
        <p:grpSpPr>
          <a:xfrm>
            <a:off x="4292423" y="2326136"/>
            <a:ext cx="559153" cy="443002"/>
            <a:chOff x="1958520" y="2302574"/>
            <a:chExt cx="359213" cy="327807"/>
          </a:xfrm>
          <a:solidFill>
            <a:schemeClr val="bg2">
              <a:lumMod val="75000"/>
            </a:schemeClr>
          </a:solidFill>
        </p:grpSpPr>
        <p:sp>
          <p:nvSpPr>
            <p:cNvPr id="30" name="Google Shape;11171;p86">
              <a:extLst>
                <a:ext uri="{FF2B5EF4-FFF2-40B4-BE49-F238E27FC236}">
                  <a16:creationId xmlns:a16="http://schemas.microsoft.com/office/drawing/2014/main" id="{04E8F52D-4CBF-40FD-901D-18A1787FB629}"/>
                </a:ext>
              </a:extLst>
            </p:cNvPr>
            <p:cNvSpPr/>
            <p:nvPr/>
          </p:nvSpPr>
          <p:spPr>
            <a:xfrm>
              <a:off x="1958520" y="2302574"/>
              <a:ext cx="359213" cy="327807"/>
            </a:xfrm>
            <a:custGeom>
              <a:avLst/>
              <a:gdLst/>
              <a:ahLst/>
              <a:cxnLst/>
              <a:rect l="l" t="t" r="r" b="b"/>
              <a:pathLst>
                <a:path w="11312" h="10323" extrusionOk="0">
                  <a:moveTo>
                    <a:pt x="7168" y="8132"/>
                  </a:moveTo>
                  <a:lnTo>
                    <a:pt x="7501" y="9204"/>
                  </a:lnTo>
                  <a:lnTo>
                    <a:pt x="3799" y="9204"/>
                  </a:lnTo>
                  <a:lnTo>
                    <a:pt x="4120" y="8132"/>
                  </a:lnTo>
                  <a:close/>
                  <a:moveTo>
                    <a:pt x="8466" y="9537"/>
                  </a:moveTo>
                  <a:cubicBezTo>
                    <a:pt x="8597" y="9537"/>
                    <a:pt x="8704" y="9656"/>
                    <a:pt x="8704" y="9775"/>
                  </a:cubicBezTo>
                  <a:cubicBezTo>
                    <a:pt x="8704" y="9906"/>
                    <a:pt x="8597" y="10013"/>
                    <a:pt x="8466" y="10013"/>
                  </a:cubicBezTo>
                  <a:lnTo>
                    <a:pt x="2810" y="10013"/>
                  </a:lnTo>
                  <a:cubicBezTo>
                    <a:pt x="2679" y="10013"/>
                    <a:pt x="2572" y="9906"/>
                    <a:pt x="2572" y="9775"/>
                  </a:cubicBezTo>
                  <a:cubicBezTo>
                    <a:pt x="2572" y="9644"/>
                    <a:pt x="2679" y="9537"/>
                    <a:pt x="2810" y="9537"/>
                  </a:cubicBezTo>
                  <a:close/>
                  <a:moveTo>
                    <a:pt x="1072" y="0"/>
                  </a:moveTo>
                  <a:cubicBezTo>
                    <a:pt x="477" y="0"/>
                    <a:pt x="0" y="476"/>
                    <a:pt x="0" y="1072"/>
                  </a:cubicBezTo>
                  <a:lnTo>
                    <a:pt x="0" y="7049"/>
                  </a:lnTo>
                  <a:cubicBezTo>
                    <a:pt x="0" y="7644"/>
                    <a:pt x="477" y="8120"/>
                    <a:pt x="1072" y="8120"/>
                  </a:cubicBezTo>
                  <a:lnTo>
                    <a:pt x="3763" y="8120"/>
                  </a:lnTo>
                  <a:lnTo>
                    <a:pt x="3441" y="9192"/>
                  </a:lnTo>
                  <a:lnTo>
                    <a:pt x="2822" y="9192"/>
                  </a:lnTo>
                  <a:cubicBezTo>
                    <a:pt x="2513" y="9192"/>
                    <a:pt x="2263" y="9442"/>
                    <a:pt x="2263" y="9751"/>
                  </a:cubicBezTo>
                  <a:cubicBezTo>
                    <a:pt x="2263" y="10073"/>
                    <a:pt x="2513" y="10323"/>
                    <a:pt x="2822" y="10323"/>
                  </a:cubicBezTo>
                  <a:lnTo>
                    <a:pt x="8478" y="10323"/>
                  </a:lnTo>
                  <a:cubicBezTo>
                    <a:pt x="8799" y="10323"/>
                    <a:pt x="9049" y="10073"/>
                    <a:pt x="9049" y="9751"/>
                  </a:cubicBezTo>
                  <a:cubicBezTo>
                    <a:pt x="9049" y="9442"/>
                    <a:pt x="8799" y="9192"/>
                    <a:pt x="8478" y="9192"/>
                  </a:cubicBezTo>
                  <a:lnTo>
                    <a:pt x="7870" y="9192"/>
                  </a:lnTo>
                  <a:lnTo>
                    <a:pt x="7549" y="8120"/>
                  </a:lnTo>
                  <a:lnTo>
                    <a:pt x="10240" y="8120"/>
                  </a:lnTo>
                  <a:cubicBezTo>
                    <a:pt x="10835" y="8120"/>
                    <a:pt x="11311" y="7644"/>
                    <a:pt x="11311" y="7049"/>
                  </a:cubicBezTo>
                  <a:lnTo>
                    <a:pt x="11311" y="1072"/>
                  </a:lnTo>
                  <a:cubicBezTo>
                    <a:pt x="11299" y="488"/>
                    <a:pt x="10823" y="0"/>
                    <a:pt x="10228" y="0"/>
                  </a:cubicBezTo>
                  <a:lnTo>
                    <a:pt x="2786" y="0"/>
                  </a:lnTo>
                  <a:cubicBezTo>
                    <a:pt x="2691" y="0"/>
                    <a:pt x="2620" y="72"/>
                    <a:pt x="2620" y="155"/>
                  </a:cubicBezTo>
                  <a:cubicBezTo>
                    <a:pt x="2620" y="250"/>
                    <a:pt x="2691" y="322"/>
                    <a:pt x="2786" y="322"/>
                  </a:cubicBezTo>
                  <a:lnTo>
                    <a:pt x="10228" y="322"/>
                  </a:lnTo>
                  <a:cubicBezTo>
                    <a:pt x="10621" y="322"/>
                    <a:pt x="10966" y="655"/>
                    <a:pt x="10966" y="1072"/>
                  </a:cubicBezTo>
                  <a:lnTo>
                    <a:pt x="10966" y="7049"/>
                  </a:lnTo>
                  <a:cubicBezTo>
                    <a:pt x="10966" y="7453"/>
                    <a:pt x="10645" y="7799"/>
                    <a:pt x="10228" y="7799"/>
                  </a:cubicBezTo>
                  <a:lnTo>
                    <a:pt x="1072" y="7799"/>
                  </a:lnTo>
                  <a:cubicBezTo>
                    <a:pt x="667" y="7799"/>
                    <a:pt x="322" y="7465"/>
                    <a:pt x="322" y="7049"/>
                  </a:cubicBezTo>
                  <a:lnTo>
                    <a:pt x="322" y="1072"/>
                  </a:lnTo>
                  <a:cubicBezTo>
                    <a:pt x="322" y="667"/>
                    <a:pt x="655" y="322"/>
                    <a:pt x="1072" y="322"/>
                  </a:cubicBezTo>
                  <a:lnTo>
                    <a:pt x="2108" y="322"/>
                  </a:lnTo>
                  <a:cubicBezTo>
                    <a:pt x="2203" y="322"/>
                    <a:pt x="2275" y="250"/>
                    <a:pt x="2275" y="155"/>
                  </a:cubicBezTo>
                  <a:cubicBezTo>
                    <a:pt x="2275" y="72"/>
                    <a:pt x="2203" y="0"/>
                    <a:pt x="2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172;p86">
              <a:extLst>
                <a:ext uri="{FF2B5EF4-FFF2-40B4-BE49-F238E27FC236}">
                  <a16:creationId xmlns:a16="http://schemas.microsoft.com/office/drawing/2014/main" id="{7A095F9A-6535-4620-BB8A-0CEF611578B9}"/>
                </a:ext>
              </a:extLst>
            </p:cNvPr>
            <p:cNvSpPr/>
            <p:nvPr/>
          </p:nvSpPr>
          <p:spPr>
            <a:xfrm>
              <a:off x="1986877" y="2331313"/>
              <a:ext cx="302117" cy="184909"/>
            </a:xfrm>
            <a:custGeom>
              <a:avLst/>
              <a:gdLst/>
              <a:ahLst/>
              <a:cxnLst/>
              <a:rect l="l" t="t" r="r" b="b"/>
              <a:pathLst>
                <a:path w="9514" h="5823" extrusionOk="0">
                  <a:moveTo>
                    <a:pt x="179" y="0"/>
                  </a:moveTo>
                  <a:cubicBezTo>
                    <a:pt x="72" y="0"/>
                    <a:pt x="0" y="71"/>
                    <a:pt x="0" y="179"/>
                  </a:cubicBezTo>
                  <a:lnTo>
                    <a:pt x="0" y="5656"/>
                  </a:lnTo>
                  <a:cubicBezTo>
                    <a:pt x="0" y="5739"/>
                    <a:pt x="72" y="5822"/>
                    <a:pt x="167" y="5822"/>
                  </a:cubicBezTo>
                  <a:lnTo>
                    <a:pt x="9347" y="5822"/>
                  </a:lnTo>
                  <a:cubicBezTo>
                    <a:pt x="9430" y="5822"/>
                    <a:pt x="9513" y="5739"/>
                    <a:pt x="9513" y="5656"/>
                  </a:cubicBezTo>
                  <a:lnTo>
                    <a:pt x="9513" y="5072"/>
                  </a:lnTo>
                  <a:cubicBezTo>
                    <a:pt x="9513" y="4989"/>
                    <a:pt x="9430" y="4905"/>
                    <a:pt x="9347" y="4905"/>
                  </a:cubicBezTo>
                  <a:cubicBezTo>
                    <a:pt x="9252" y="4905"/>
                    <a:pt x="9180" y="4989"/>
                    <a:pt x="9180" y="5072"/>
                  </a:cubicBezTo>
                  <a:lnTo>
                    <a:pt x="9180" y="5489"/>
                  </a:lnTo>
                  <a:lnTo>
                    <a:pt x="346" y="5489"/>
                  </a:lnTo>
                  <a:lnTo>
                    <a:pt x="346" y="345"/>
                  </a:lnTo>
                  <a:lnTo>
                    <a:pt x="9180" y="345"/>
                  </a:lnTo>
                  <a:lnTo>
                    <a:pt x="9180" y="4405"/>
                  </a:lnTo>
                  <a:cubicBezTo>
                    <a:pt x="9168" y="4489"/>
                    <a:pt x="9240" y="4572"/>
                    <a:pt x="9347" y="4572"/>
                  </a:cubicBezTo>
                  <a:cubicBezTo>
                    <a:pt x="9430" y="4572"/>
                    <a:pt x="9513" y="4489"/>
                    <a:pt x="9513" y="4405"/>
                  </a:cubicBezTo>
                  <a:lnTo>
                    <a:pt x="9513" y="179"/>
                  </a:lnTo>
                  <a:cubicBezTo>
                    <a:pt x="9513" y="71"/>
                    <a:pt x="9430" y="0"/>
                    <a:pt x="93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173;p86">
              <a:extLst>
                <a:ext uri="{FF2B5EF4-FFF2-40B4-BE49-F238E27FC236}">
                  <a16:creationId xmlns:a16="http://schemas.microsoft.com/office/drawing/2014/main" id="{9567E5CE-5970-4A77-9176-62CD6E237328}"/>
                </a:ext>
              </a:extLst>
            </p:cNvPr>
            <p:cNvSpPr/>
            <p:nvPr/>
          </p:nvSpPr>
          <p:spPr>
            <a:xfrm>
              <a:off x="2131521" y="2526701"/>
              <a:ext cx="11908" cy="10638"/>
            </a:xfrm>
            <a:custGeom>
              <a:avLst/>
              <a:gdLst/>
              <a:ahLst/>
              <a:cxnLst/>
              <a:rect l="l" t="t" r="r" b="b"/>
              <a:pathLst>
                <a:path w="375" h="335" extrusionOk="0">
                  <a:moveTo>
                    <a:pt x="176" y="0"/>
                  </a:moveTo>
                  <a:cubicBezTo>
                    <a:pt x="167" y="0"/>
                    <a:pt x="158" y="1"/>
                    <a:pt x="148" y="3"/>
                  </a:cubicBezTo>
                  <a:cubicBezTo>
                    <a:pt x="77" y="26"/>
                    <a:pt x="17" y="86"/>
                    <a:pt x="17" y="157"/>
                  </a:cubicBezTo>
                  <a:cubicBezTo>
                    <a:pt x="1" y="258"/>
                    <a:pt x="95" y="334"/>
                    <a:pt x="186" y="334"/>
                  </a:cubicBezTo>
                  <a:cubicBezTo>
                    <a:pt x="225" y="334"/>
                    <a:pt x="263" y="320"/>
                    <a:pt x="291" y="288"/>
                  </a:cubicBezTo>
                  <a:cubicBezTo>
                    <a:pt x="375" y="229"/>
                    <a:pt x="375" y="145"/>
                    <a:pt x="327" y="86"/>
                  </a:cubicBezTo>
                  <a:cubicBezTo>
                    <a:pt x="296" y="34"/>
                    <a:pt x="238" y="0"/>
                    <a:pt x="1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11174;p86">
            <a:extLst>
              <a:ext uri="{FF2B5EF4-FFF2-40B4-BE49-F238E27FC236}">
                <a16:creationId xmlns:a16="http://schemas.microsoft.com/office/drawing/2014/main" id="{B7B7C1B1-F935-4FF0-B85B-7E47293A5DED}"/>
              </a:ext>
            </a:extLst>
          </p:cNvPr>
          <p:cNvGrpSpPr/>
          <p:nvPr/>
        </p:nvGrpSpPr>
        <p:grpSpPr>
          <a:xfrm>
            <a:off x="7097486" y="2277806"/>
            <a:ext cx="317258" cy="491228"/>
            <a:chOff x="2656082" y="2287427"/>
            <a:chExt cx="207582" cy="359594"/>
          </a:xfrm>
          <a:solidFill>
            <a:schemeClr val="bg2">
              <a:lumMod val="75000"/>
            </a:schemeClr>
          </a:solidFill>
        </p:grpSpPr>
        <p:sp>
          <p:nvSpPr>
            <p:cNvPr id="34" name="Google Shape;11175;p86">
              <a:extLst>
                <a:ext uri="{FF2B5EF4-FFF2-40B4-BE49-F238E27FC236}">
                  <a16:creationId xmlns:a16="http://schemas.microsoft.com/office/drawing/2014/main" id="{0002ACDE-CEAC-4AEB-87B1-B633175BF211}"/>
                </a:ext>
              </a:extLst>
            </p:cNvPr>
            <p:cNvSpPr/>
            <p:nvPr/>
          </p:nvSpPr>
          <p:spPr>
            <a:xfrm>
              <a:off x="2656082" y="2287427"/>
              <a:ext cx="207582" cy="359594"/>
            </a:xfrm>
            <a:custGeom>
              <a:avLst/>
              <a:gdLst/>
              <a:ahLst/>
              <a:cxnLst/>
              <a:rect l="l" t="t" r="r" b="b"/>
              <a:pathLst>
                <a:path w="6537" h="11324" extrusionOk="0">
                  <a:moveTo>
                    <a:pt x="5704" y="334"/>
                  </a:moveTo>
                  <a:cubicBezTo>
                    <a:pt x="5965" y="334"/>
                    <a:pt x="6192" y="561"/>
                    <a:pt x="6192" y="834"/>
                  </a:cubicBezTo>
                  <a:lnTo>
                    <a:pt x="6192" y="1323"/>
                  </a:lnTo>
                  <a:lnTo>
                    <a:pt x="346" y="1323"/>
                  </a:lnTo>
                  <a:lnTo>
                    <a:pt x="346" y="834"/>
                  </a:lnTo>
                  <a:cubicBezTo>
                    <a:pt x="346" y="561"/>
                    <a:pt x="560" y="334"/>
                    <a:pt x="834" y="334"/>
                  </a:cubicBezTo>
                  <a:close/>
                  <a:moveTo>
                    <a:pt x="6192" y="1644"/>
                  </a:moveTo>
                  <a:lnTo>
                    <a:pt x="6192" y="8990"/>
                  </a:lnTo>
                  <a:lnTo>
                    <a:pt x="1501" y="8990"/>
                  </a:lnTo>
                  <a:cubicBezTo>
                    <a:pt x="1405" y="8990"/>
                    <a:pt x="1334" y="9062"/>
                    <a:pt x="1334" y="9145"/>
                  </a:cubicBezTo>
                  <a:cubicBezTo>
                    <a:pt x="1334" y="9240"/>
                    <a:pt x="1405" y="9312"/>
                    <a:pt x="1501" y="9312"/>
                  </a:cubicBezTo>
                  <a:lnTo>
                    <a:pt x="6192" y="9312"/>
                  </a:lnTo>
                  <a:lnTo>
                    <a:pt x="6192" y="10478"/>
                  </a:lnTo>
                  <a:cubicBezTo>
                    <a:pt x="6192" y="10740"/>
                    <a:pt x="5965" y="10967"/>
                    <a:pt x="5704" y="10967"/>
                  </a:cubicBezTo>
                  <a:lnTo>
                    <a:pt x="834" y="10967"/>
                  </a:lnTo>
                  <a:cubicBezTo>
                    <a:pt x="560" y="10967"/>
                    <a:pt x="346" y="10740"/>
                    <a:pt x="346" y="10478"/>
                  </a:cubicBezTo>
                  <a:lnTo>
                    <a:pt x="346" y="9312"/>
                  </a:lnTo>
                  <a:lnTo>
                    <a:pt x="834" y="9312"/>
                  </a:lnTo>
                  <a:cubicBezTo>
                    <a:pt x="917" y="9312"/>
                    <a:pt x="1001" y="9240"/>
                    <a:pt x="1001" y="9145"/>
                  </a:cubicBezTo>
                  <a:cubicBezTo>
                    <a:pt x="1001" y="9062"/>
                    <a:pt x="917" y="8990"/>
                    <a:pt x="834" y="8990"/>
                  </a:cubicBezTo>
                  <a:lnTo>
                    <a:pt x="346" y="8990"/>
                  </a:lnTo>
                  <a:lnTo>
                    <a:pt x="346" y="1644"/>
                  </a:lnTo>
                  <a:close/>
                  <a:moveTo>
                    <a:pt x="834" y="1"/>
                  </a:moveTo>
                  <a:cubicBezTo>
                    <a:pt x="370" y="1"/>
                    <a:pt x="0" y="370"/>
                    <a:pt x="0" y="834"/>
                  </a:cubicBezTo>
                  <a:lnTo>
                    <a:pt x="0" y="10490"/>
                  </a:lnTo>
                  <a:cubicBezTo>
                    <a:pt x="0" y="10955"/>
                    <a:pt x="370" y="11324"/>
                    <a:pt x="834" y="11324"/>
                  </a:cubicBezTo>
                  <a:lnTo>
                    <a:pt x="5704" y="11324"/>
                  </a:lnTo>
                  <a:cubicBezTo>
                    <a:pt x="6156" y="11324"/>
                    <a:pt x="6537" y="10955"/>
                    <a:pt x="6537" y="10490"/>
                  </a:cubicBezTo>
                  <a:lnTo>
                    <a:pt x="6537" y="834"/>
                  </a:lnTo>
                  <a:cubicBezTo>
                    <a:pt x="6513" y="370"/>
                    <a:pt x="6144" y="1"/>
                    <a:pt x="57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176;p86">
              <a:extLst>
                <a:ext uri="{FF2B5EF4-FFF2-40B4-BE49-F238E27FC236}">
                  <a16:creationId xmlns:a16="http://schemas.microsoft.com/office/drawing/2014/main" id="{E18AFC8F-25C1-4C1D-A843-A7D3FBDC59B6}"/>
                </a:ext>
              </a:extLst>
            </p:cNvPr>
            <p:cNvSpPr/>
            <p:nvPr/>
          </p:nvSpPr>
          <p:spPr>
            <a:xfrm>
              <a:off x="2754395" y="2308608"/>
              <a:ext cx="31787" cy="10257"/>
            </a:xfrm>
            <a:custGeom>
              <a:avLst/>
              <a:gdLst/>
              <a:ahLst/>
              <a:cxnLst/>
              <a:rect l="l" t="t" r="r" b="b"/>
              <a:pathLst>
                <a:path w="1001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834" y="322"/>
                  </a:lnTo>
                  <a:cubicBezTo>
                    <a:pt x="917" y="322"/>
                    <a:pt x="1000" y="251"/>
                    <a:pt x="1000" y="167"/>
                  </a:cubicBezTo>
                  <a:cubicBezTo>
                    <a:pt x="1000" y="72"/>
                    <a:pt x="917" y="1"/>
                    <a:pt x="8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177;p86">
              <a:extLst>
                <a:ext uri="{FF2B5EF4-FFF2-40B4-BE49-F238E27FC236}">
                  <a16:creationId xmlns:a16="http://schemas.microsoft.com/office/drawing/2014/main" id="{97BEE68F-19D4-46EC-9401-750836C79E48}"/>
                </a:ext>
              </a:extLst>
            </p:cNvPr>
            <p:cNvSpPr/>
            <p:nvPr/>
          </p:nvSpPr>
          <p:spPr>
            <a:xfrm>
              <a:off x="2743789" y="2594053"/>
              <a:ext cx="31406" cy="31056"/>
            </a:xfrm>
            <a:custGeom>
              <a:avLst/>
              <a:gdLst/>
              <a:ahLst/>
              <a:cxnLst/>
              <a:rect l="l" t="t" r="r" b="b"/>
              <a:pathLst>
                <a:path w="989" h="978" extrusionOk="0">
                  <a:moveTo>
                    <a:pt x="501" y="322"/>
                  </a:moveTo>
                  <a:cubicBezTo>
                    <a:pt x="584" y="322"/>
                    <a:pt x="656" y="406"/>
                    <a:pt x="656" y="489"/>
                  </a:cubicBezTo>
                  <a:cubicBezTo>
                    <a:pt x="656" y="584"/>
                    <a:pt x="584" y="656"/>
                    <a:pt x="501" y="656"/>
                  </a:cubicBezTo>
                  <a:cubicBezTo>
                    <a:pt x="406" y="656"/>
                    <a:pt x="334" y="584"/>
                    <a:pt x="334" y="489"/>
                  </a:cubicBezTo>
                  <a:cubicBezTo>
                    <a:pt x="334" y="406"/>
                    <a:pt x="406" y="322"/>
                    <a:pt x="501" y="322"/>
                  </a:cubicBezTo>
                  <a:close/>
                  <a:moveTo>
                    <a:pt x="501" y="1"/>
                  </a:moveTo>
                  <a:cubicBezTo>
                    <a:pt x="227" y="1"/>
                    <a:pt x="1" y="227"/>
                    <a:pt x="1" y="489"/>
                  </a:cubicBezTo>
                  <a:cubicBezTo>
                    <a:pt x="1" y="763"/>
                    <a:pt x="227" y="977"/>
                    <a:pt x="501" y="977"/>
                  </a:cubicBezTo>
                  <a:cubicBezTo>
                    <a:pt x="763" y="977"/>
                    <a:pt x="989" y="763"/>
                    <a:pt x="989" y="489"/>
                  </a:cubicBezTo>
                  <a:cubicBezTo>
                    <a:pt x="989" y="227"/>
                    <a:pt x="775" y="1"/>
                    <a:pt x="5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178;p86">
              <a:extLst>
                <a:ext uri="{FF2B5EF4-FFF2-40B4-BE49-F238E27FC236}">
                  <a16:creationId xmlns:a16="http://schemas.microsoft.com/office/drawing/2014/main" id="{070B1A28-993E-4851-81B8-917788E7577A}"/>
                </a:ext>
              </a:extLst>
            </p:cNvPr>
            <p:cNvSpPr/>
            <p:nvPr/>
          </p:nvSpPr>
          <p:spPr>
            <a:xfrm>
              <a:off x="2733596" y="2308608"/>
              <a:ext cx="10225" cy="10257"/>
            </a:xfrm>
            <a:custGeom>
              <a:avLst/>
              <a:gdLst/>
              <a:ahLst/>
              <a:cxnLst/>
              <a:rect l="l" t="t" r="r" b="b"/>
              <a:pathLst>
                <a:path w="322" h="323" extrusionOk="0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55" y="322"/>
                  </a:cubicBezTo>
                  <a:cubicBezTo>
                    <a:pt x="250" y="322"/>
                    <a:pt x="322" y="251"/>
                    <a:pt x="322" y="167"/>
                  </a:cubicBez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8"/>
          <p:cNvPicPr preferRelativeResize="0"/>
          <p:nvPr/>
        </p:nvPicPr>
        <p:blipFill rotWithShape="1">
          <a:blip r:embed="rId3">
            <a:alphaModFix/>
          </a:blip>
          <a:srcRect l="19847" t="22086" r="20189" b="15682"/>
          <a:stretch/>
        </p:blipFill>
        <p:spPr>
          <a:xfrm flipH="1">
            <a:off x="5280900" y="874825"/>
            <a:ext cx="3409850" cy="34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8"/>
          <p:cNvSpPr/>
          <p:nvPr/>
        </p:nvSpPr>
        <p:spPr>
          <a:xfrm rot="-8099382">
            <a:off x="6664712" y="1233901"/>
            <a:ext cx="1180939" cy="311325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8"/>
          <p:cNvSpPr/>
          <p:nvPr/>
        </p:nvSpPr>
        <p:spPr>
          <a:xfrm rot="-8100618">
            <a:off x="6816631" y="1775367"/>
            <a:ext cx="1180515" cy="2450549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8"/>
          <p:cNvSpPr txBox="1">
            <a:spLocks noGrp="1"/>
          </p:cNvSpPr>
          <p:nvPr>
            <p:ph type="title"/>
          </p:nvPr>
        </p:nvSpPr>
        <p:spPr>
          <a:xfrm>
            <a:off x="624364" y="1142265"/>
            <a:ext cx="4233000" cy="100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2800" b="1" dirty="0"/>
              <a:t>Понятие цифровой среды</a:t>
            </a:r>
            <a:endParaRPr lang="ru-RU" sz="2800" dirty="0"/>
          </a:p>
        </p:txBody>
      </p:sp>
      <p:sp>
        <p:nvSpPr>
          <p:cNvPr id="332" name="Google Shape;332;p38"/>
          <p:cNvSpPr txBox="1">
            <a:spLocks noGrp="1"/>
          </p:cNvSpPr>
          <p:nvPr>
            <p:ph type="subTitle" idx="1"/>
          </p:nvPr>
        </p:nvSpPr>
        <p:spPr>
          <a:xfrm>
            <a:off x="453250" y="2082800"/>
            <a:ext cx="4316364" cy="23716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sz="1400" dirty="0"/>
              <a:t>Цифровая среда представляет собой </a:t>
            </a:r>
            <a:r>
              <a:rPr lang="ru-RU" sz="1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совокупность цифровых технологий</a:t>
            </a:r>
            <a:r>
              <a:rPr lang="ru-RU" sz="1400" dirty="0"/>
              <a:t>, инфраструктуры и данных, которые обеспечивают взаимодействие и обмен информацией в цифровом формате. Это среда, в которой происходит </a:t>
            </a:r>
            <a:r>
              <a:rPr lang="ru-RU" sz="1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создание, хранение, обработка и передача </a:t>
            </a:r>
            <a:r>
              <a:rPr lang="ru-RU" sz="1400" dirty="0"/>
              <a:t>цифровой </a:t>
            </a:r>
            <a:r>
              <a:rPr lang="ru-RU" sz="1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информации</a:t>
            </a:r>
            <a:r>
              <a:rPr lang="ru-RU" sz="1400" dirty="0"/>
              <a:t> с использованием компьютерных и телекоммуникационных систем.</a:t>
            </a:r>
          </a:p>
        </p:txBody>
      </p:sp>
      <p:cxnSp>
        <p:nvCxnSpPr>
          <p:cNvPr id="333" name="Google Shape;333;p38"/>
          <p:cNvCxnSpPr/>
          <p:nvPr/>
        </p:nvCxnSpPr>
        <p:spPr>
          <a:xfrm>
            <a:off x="624364" y="874825"/>
            <a:ext cx="4213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38"/>
          <p:cNvCxnSpPr/>
          <p:nvPr/>
        </p:nvCxnSpPr>
        <p:spPr>
          <a:xfrm>
            <a:off x="604564" y="4467544"/>
            <a:ext cx="4233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6621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4"/>
          <p:cNvSpPr txBox="1">
            <a:spLocks noGrp="1"/>
          </p:cNvSpPr>
          <p:nvPr>
            <p:ph type="title"/>
          </p:nvPr>
        </p:nvSpPr>
        <p:spPr>
          <a:xfrm>
            <a:off x="720000" y="1556574"/>
            <a:ext cx="2308500" cy="14656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Аппаратное обеспечение (</a:t>
            </a:r>
            <a:r>
              <a:rPr lang="ru-RU" sz="20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hardware</a:t>
            </a:r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sp>
        <p:nvSpPr>
          <p:cNvPr id="426" name="Google Shape;426;p44"/>
          <p:cNvSpPr txBox="1">
            <a:spLocks noGrp="1"/>
          </p:cNvSpPr>
          <p:nvPr>
            <p:ph type="title" idx="8"/>
          </p:nvPr>
        </p:nvSpPr>
        <p:spPr>
          <a:xfrm>
            <a:off x="342183" y="987881"/>
            <a:ext cx="8554629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b="1" dirty="0"/>
              <a:t>Структура информационных технологий</a:t>
            </a:r>
            <a:endParaRPr dirty="0"/>
          </a:p>
        </p:txBody>
      </p:sp>
      <p:cxnSp>
        <p:nvCxnSpPr>
          <p:cNvPr id="432" name="Google Shape;432;p44"/>
          <p:cNvCxnSpPr/>
          <p:nvPr/>
        </p:nvCxnSpPr>
        <p:spPr>
          <a:xfrm>
            <a:off x="720000" y="3202502"/>
            <a:ext cx="2320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3" name="Google Shape;433;p44"/>
          <p:cNvCxnSpPr/>
          <p:nvPr/>
        </p:nvCxnSpPr>
        <p:spPr>
          <a:xfrm>
            <a:off x="3459398" y="3202502"/>
            <a:ext cx="2320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Google Shape;422;p44">
            <a:extLst>
              <a:ext uri="{FF2B5EF4-FFF2-40B4-BE49-F238E27FC236}">
                <a16:creationId xmlns:a16="http://schemas.microsoft.com/office/drawing/2014/main" id="{9B437BAC-AE60-4F93-BEF9-89CC63453CE8}"/>
              </a:ext>
            </a:extLst>
          </p:cNvPr>
          <p:cNvSpPr txBox="1">
            <a:spLocks/>
          </p:cNvSpPr>
          <p:nvPr/>
        </p:nvSpPr>
        <p:spPr>
          <a:xfrm>
            <a:off x="3442590" y="1526065"/>
            <a:ext cx="2308500" cy="146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Russo One"/>
              <a:buNone/>
              <a:defRPr sz="2500" b="0" i="0" u="none" strike="noStrike" cap="non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lvl="0"/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Программное обеспечение (</a:t>
            </a:r>
            <a:r>
              <a:rPr lang="ru-RU" sz="20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software</a:t>
            </a:r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sp>
        <p:nvSpPr>
          <p:cNvPr id="31" name="Google Shape;422;p44">
            <a:extLst>
              <a:ext uri="{FF2B5EF4-FFF2-40B4-BE49-F238E27FC236}">
                <a16:creationId xmlns:a16="http://schemas.microsoft.com/office/drawing/2014/main" id="{CFB45170-2D19-4907-BCE3-C287103C0B0B}"/>
              </a:ext>
            </a:extLst>
          </p:cNvPr>
          <p:cNvSpPr txBox="1">
            <a:spLocks/>
          </p:cNvSpPr>
          <p:nvPr/>
        </p:nvSpPr>
        <p:spPr>
          <a:xfrm>
            <a:off x="577150" y="3223452"/>
            <a:ext cx="2594200" cy="146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Russo One"/>
              <a:buNone/>
              <a:defRPr sz="2500" b="0" i="0" u="none" strike="noStrike" cap="non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lvl="0" algn="ctr"/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Информационные ресурсы</a:t>
            </a:r>
          </a:p>
        </p:txBody>
      </p:sp>
      <p:sp>
        <p:nvSpPr>
          <p:cNvPr id="32" name="Google Shape;422;p44">
            <a:extLst>
              <a:ext uri="{FF2B5EF4-FFF2-40B4-BE49-F238E27FC236}">
                <a16:creationId xmlns:a16="http://schemas.microsoft.com/office/drawing/2014/main" id="{A4125AA4-6AEC-419E-BD15-B5C083A9B7B1}"/>
              </a:ext>
            </a:extLst>
          </p:cNvPr>
          <p:cNvSpPr txBox="1">
            <a:spLocks/>
          </p:cNvSpPr>
          <p:nvPr/>
        </p:nvSpPr>
        <p:spPr>
          <a:xfrm>
            <a:off x="3417749" y="3223452"/>
            <a:ext cx="2736307" cy="146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Russo One"/>
              <a:buNone/>
              <a:defRPr sz="2500" b="0" i="0" u="none" strike="noStrike" cap="non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lvl="0"/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Организационное обеспечение</a:t>
            </a:r>
          </a:p>
        </p:txBody>
      </p:sp>
      <p:grpSp>
        <p:nvGrpSpPr>
          <p:cNvPr id="33" name="Google Shape;10509;p84">
            <a:extLst>
              <a:ext uri="{FF2B5EF4-FFF2-40B4-BE49-F238E27FC236}">
                <a16:creationId xmlns:a16="http://schemas.microsoft.com/office/drawing/2014/main" id="{AF468331-C1E8-496D-A6BF-FD838D7846D9}"/>
              </a:ext>
            </a:extLst>
          </p:cNvPr>
          <p:cNvGrpSpPr/>
          <p:nvPr/>
        </p:nvGrpSpPr>
        <p:grpSpPr>
          <a:xfrm>
            <a:off x="6674233" y="2001532"/>
            <a:ext cx="1892617" cy="2041450"/>
            <a:chOff x="4206459" y="1191441"/>
            <a:chExt cx="712557" cy="785901"/>
          </a:xfrm>
          <a:solidFill>
            <a:schemeClr val="bg2">
              <a:lumMod val="20000"/>
              <a:lumOff val="80000"/>
            </a:schemeClr>
          </a:solidFill>
        </p:grpSpPr>
        <p:sp>
          <p:nvSpPr>
            <p:cNvPr id="34" name="Google Shape;10510;p84">
              <a:extLst>
                <a:ext uri="{FF2B5EF4-FFF2-40B4-BE49-F238E27FC236}">
                  <a16:creationId xmlns:a16="http://schemas.microsoft.com/office/drawing/2014/main" id="{A9CE3494-EAF7-454F-8885-1FD5C5300002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grpFill/>
            <a:ln w="12700" cap="flat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511;p84">
              <a:extLst>
                <a:ext uri="{FF2B5EF4-FFF2-40B4-BE49-F238E27FC236}">
                  <a16:creationId xmlns:a16="http://schemas.microsoft.com/office/drawing/2014/main" id="{DFE564B4-BFAC-4EED-ACDB-610C7B2B04F4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grpFill/>
            <a:ln w="12700" cap="flat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512;p84">
              <a:extLst>
                <a:ext uri="{FF2B5EF4-FFF2-40B4-BE49-F238E27FC236}">
                  <a16:creationId xmlns:a16="http://schemas.microsoft.com/office/drawing/2014/main" id="{9091C574-6293-4877-A826-3B32256DA7E8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grpFill/>
            <a:ln w="12700" cap="flat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513;p84">
              <a:extLst>
                <a:ext uri="{FF2B5EF4-FFF2-40B4-BE49-F238E27FC236}">
                  <a16:creationId xmlns:a16="http://schemas.microsoft.com/office/drawing/2014/main" id="{2054FB3E-7F84-4B2A-AC69-41F95F966EFA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grpFill/>
            <a:ln w="12700" cap="flat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" name="Google Shape;10514;p84">
              <a:extLst>
                <a:ext uri="{FF2B5EF4-FFF2-40B4-BE49-F238E27FC236}">
                  <a16:creationId xmlns:a16="http://schemas.microsoft.com/office/drawing/2014/main" id="{B1EB855D-4548-4030-870B-082C9E0B179E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  <a:grpFill/>
          </p:grpSpPr>
          <p:sp>
            <p:nvSpPr>
              <p:cNvPr id="68" name="Google Shape;10515;p84">
                <a:extLst>
                  <a:ext uri="{FF2B5EF4-FFF2-40B4-BE49-F238E27FC236}">
                    <a16:creationId xmlns:a16="http://schemas.microsoft.com/office/drawing/2014/main" id="{A723FCED-E4A6-4FD4-8675-CB672200007B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0516;p84">
                <a:extLst>
                  <a:ext uri="{FF2B5EF4-FFF2-40B4-BE49-F238E27FC236}">
                    <a16:creationId xmlns:a16="http://schemas.microsoft.com/office/drawing/2014/main" id="{81DD1F24-77AA-45F5-82AF-98669BC2D453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0517;p84">
                <a:extLst>
                  <a:ext uri="{FF2B5EF4-FFF2-40B4-BE49-F238E27FC236}">
                    <a16:creationId xmlns:a16="http://schemas.microsoft.com/office/drawing/2014/main" id="{CC6A5C5E-562D-44EE-8796-A592A65B5EE5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10518;p84">
                <a:extLst>
                  <a:ext uri="{FF2B5EF4-FFF2-40B4-BE49-F238E27FC236}">
                    <a16:creationId xmlns:a16="http://schemas.microsoft.com/office/drawing/2014/main" id="{343D2D17-25AD-47C6-A97B-DF4B9525A4F2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" name="Google Shape;10519;p84">
              <a:extLst>
                <a:ext uri="{FF2B5EF4-FFF2-40B4-BE49-F238E27FC236}">
                  <a16:creationId xmlns:a16="http://schemas.microsoft.com/office/drawing/2014/main" id="{4AAE58D4-9014-45DD-AE9A-99D2E936D045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  <a:grpFill/>
          </p:grpSpPr>
          <p:sp>
            <p:nvSpPr>
              <p:cNvPr id="64" name="Google Shape;10520;p84">
                <a:extLst>
                  <a:ext uri="{FF2B5EF4-FFF2-40B4-BE49-F238E27FC236}">
                    <a16:creationId xmlns:a16="http://schemas.microsoft.com/office/drawing/2014/main" id="{76631BDC-02B7-4E2E-857F-1F9DB885C813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0521;p84">
                <a:extLst>
                  <a:ext uri="{FF2B5EF4-FFF2-40B4-BE49-F238E27FC236}">
                    <a16:creationId xmlns:a16="http://schemas.microsoft.com/office/drawing/2014/main" id="{915EE2F0-F12B-457D-BB74-E9F9738E11F4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0522;p84">
                <a:extLst>
                  <a:ext uri="{FF2B5EF4-FFF2-40B4-BE49-F238E27FC236}">
                    <a16:creationId xmlns:a16="http://schemas.microsoft.com/office/drawing/2014/main" id="{C59F3FE4-912D-45C2-9DE0-C72624C3EBD6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0523;p84">
                <a:extLst>
                  <a:ext uri="{FF2B5EF4-FFF2-40B4-BE49-F238E27FC236}">
                    <a16:creationId xmlns:a16="http://schemas.microsoft.com/office/drawing/2014/main" id="{9AAAEA30-925A-46AF-8B1C-733436F6EEF4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" name="Google Shape;10524;p84">
              <a:extLst>
                <a:ext uri="{FF2B5EF4-FFF2-40B4-BE49-F238E27FC236}">
                  <a16:creationId xmlns:a16="http://schemas.microsoft.com/office/drawing/2014/main" id="{5848C4DB-1B4C-4287-AFEE-F3F5F8F5A3F7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  <a:grpFill/>
          </p:grpSpPr>
          <p:sp>
            <p:nvSpPr>
              <p:cNvPr id="60" name="Google Shape;10525;p84">
                <a:extLst>
                  <a:ext uri="{FF2B5EF4-FFF2-40B4-BE49-F238E27FC236}">
                    <a16:creationId xmlns:a16="http://schemas.microsoft.com/office/drawing/2014/main" id="{41BBCDC3-1158-40B9-96D0-7573FFBFA8D6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0526;p84">
                <a:extLst>
                  <a:ext uri="{FF2B5EF4-FFF2-40B4-BE49-F238E27FC236}">
                    <a16:creationId xmlns:a16="http://schemas.microsoft.com/office/drawing/2014/main" id="{19EDE04A-3123-4814-9135-AD40320D8C48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0527;p84">
                <a:extLst>
                  <a:ext uri="{FF2B5EF4-FFF2-40B4-BE49-F238E27FC236}">
                    <a16:creationId xmlns:a16="http://schemas.microsoft.com/office/drawing/2014/main" id="{8228D979-F4B9-4132-92E5-428D7770BF24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0528;p84">
                <a:extLst>
                  <a:ext uri="{FF2B5EF4-FFF2-40B4-BE49-F238E27FC236}">
                    <a16:creationId xmlns:a16="http://schemas.microsoft.com/office/drawing/2014/main" id="{CE1B0ABF-7CC0-466F-8FF5-C6D52D0E098E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" name="Google Shape;10529;p84">
              <a:extLst>
                <a:ext uri="{FF2B5EF4-FFF2-40B4-BE49-F238E27FC236}">
                  <a16:creationId xmlns:a16="http://schemas.microsoft.com/office/drawing/2014/main" id="{D5DF1D08-02A0-401A-AA72-0B2002521BDD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  <a:grpFill/>
          </p:grpSpPr>
          <p:sp>
            <p:nvSpPr>
              <p:cNvPr id="56" name="Google Shape;10530;p84">
                <a:extLst>
                  <a:ext uri="{FF2B5EF4-FFF2-40B4-BE49-F238E27FC236}">
                    <a16:creationId xmlns:a16="http://schemas.microsoft.com/office/drawing/2014/main" id="{11F855AE-5AEA-43E4-A916-BA3003696FA0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0531;p84">
                <a:extLst>
                  <a:ext uri="{FF2B5EF4-FFF2-40B4-BE49-F238E27FC236}">
                    <a16:creationId xmlns:a16="http://schemas.microsoft.com/office/drawing/2014/main" id="{A69192A1-C245-4F84-81F4-C034D32108B1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0532;p84">
                <a:extLst>
                  <a:ext uri="{FF2B5EF4-FFF2-40B4-BE49-F238E27FC236}">
                    <a16:creationId xmlns:a16="http://schemas.microsoft.com/office/drawing/2014/main" id="{297449E6-44E9-4013-BB62-EAA8471078DD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0533;p84">
                <a:extLst>
                  <a:ext uri="{FF2B5EF4-FFF2-40B4-BE49-F238E27FC236}">
                    <a16:creationId xmlns:a16="http://schemas.microsoft.com/office/drawing/2014/main" id="{1EBAD0ED-5257-455C-8114-486611087243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" name="Google Shape;10534;p84">
              <a:extLst>
                <a:ext uri="{FF2B5EF4-FFF2-40B4-BE49-F238E27FC236}">
                  <a16:creationId xmlns:a16="http://schemas.microsoft.com/office/drawing/2014/main" id="{C734D9C5-E0AB-47B4-AC8B-679E04BF3EAB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grpFill/>
            <a:ln w="12700">
              <a:solidFill>
                <a:schemeClr val="tx2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535;p84">
              <a:extLst>
                <a:ext uri="{FF2B5EF4-FFF2-40B4-BE49-F238E27FC236}">
                  <a16:creationId xmlns:a16="http://schemas.microsoft.com/office/drawing/2014/main" id="{F1C08EFE-7268-40AD-81FD-AD5B3799C2F5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grpFill/>
            <a:ln w="12700">
              <a:solidFill>
                <a:schemeClr val="tx2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536;p84">
              <a:extLst>
                <a:ext uri="{FF2B5EF4-FFF2-40B4-BE49-F238E27FC236}">
                  <a16:creationId xmlns:a16="http://schemas.microsoft.com/office/drawing/2014/main" id="{2A96CE83-640C-4E29-B1E5-48C1D4AC83AC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grpFill/>
            <a:ln w="12700">
              <a:solidFill>
                <a:schemeClr val="tx2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537;p84">
              <a:extLst>
                <a:ext uri="{FF2B5EF4-FFF2-40B4-BE49-F238E27FC236}">
                  <a16:creationId xmlns:a16="http://schemas.microsoft.com/office/drawing/2014/main" id="{9484BF86-1578-4039-859D-4ADB64AAE0FE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grpFill/>
            <a:ln w="12700">
              <a:solidFill>
                <a:schemeClr val="tx2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10538;p84">
              <a:extLst>
                <a:ext uri="{FF2B5EF4-FFF2-40B4-BE49-F238E27FC236}">
                  <a16:creationId xmlns:a16="http://schemas.microsoft.com/office/drawing/2014/main" id="{4A86164C-1388-40B6-8EAC-3FA61CBFC306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  <a:grpFill/>
          </p:grpSpPr>
          <p:sp>
            <p:nvSpPr>
              <p:cNvPr id="52" name="Google Shape;10539;p84">
                <a:extLst>
                  <a:ext uri="{FF2B5EF4-FFF2-40B4-BE49-F238E27FC236}">
                    <a16:creationId xmlns:a16="http://schemas.microsoft.com/office/drawing/2014/main" id="{C375EFC0-9E09-469D-95EA-7C6CEEEE833D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0540;p84">
                <a:extLst>
                  <a:ext uri="{FF2B5EF4-FFF2-40B4-BE49-F238E27FC236}">
                    <a16:creationId xmlns:a16="http://schemas.microsoft.com/office/drawing/2014/main" id="{67B2F004-21F9-4E4D-B1A4-950693D031D7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0541;p84">
                <a:extLst>
                  <a:ext uri="{FF2B5EF4-FFF2-40B4-BE49-F238E27FC236}">
                    <a16:creationId xmlns:a16="http://schemas.microsoft.com/office/drawing/2014/main" id="{6857B000-9900-4474-A8A2-92D590C18303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0542;p84">
                <a:extLst>
                  <a:ext uri="{FF2B5EF4-FFF2-40B4-BE49-F238E27FC236}">
                    <a16:creationId xmlns:a16="http://schemas.microsoft.com/office/drawing/2014/main" id="{7D99DBF0-7657-4504-B3E8-E810FB28EECE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10543;p84">
              <a:extLst>
                <a:ext uri="{FF2B5EF4-FFF2-40B4-BE49-F238E27FC236}">
                  <a16:creationId xmlns:a16="http://schemas.microsoft.com/office/drawing/2014/main" id="{137E39B2-7010-4DF8-A995-A66D1E174292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  <a:grpFill/>
          </p:grpSpPr>
          <p:sp>
            <p:nvSpPr>
              <p:cNvPr id="48" name="Google Shape;10544;p84">
                <a:extLst>
                  <a:ext uri="{FF2B5EF4-FFF2-40B4-BE49-F238E27FC236}">
                    <a16:creationId xmlns:a16="http://schemas.microsoft.com/office/drawing/2014/main" id="{41C9D8AA-A09F-480D-BFB4-F63DA00798E6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0545;p84">
                <a:extLst>
                  <a:ext uri="{FF2B5EF4-FFF2-40B4-BE49-F238E27FC236}">
                    <a16:creationId xmlns:a16="http://schemas.microsoft.com/office/drawing/2014/main" id="{CE692129-1A21-4F1D-8B99-FBB739AC0279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0546;p84">
                <a:extLst>
                  <a:ext uri="{FF2B5EF4-FFF2-40B4-BE49-F238E27FC236}">
                    <a16:creationId xmlns:a16="http://schemas.microsoft.com/office/drawing/2014/main" id="{4769AF5D-C3B1-4D9E-A79C-4342964A1369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0547;p84">
                <a:extLst>
                  <a:ext uri="{FF2B5EF4-FFF2-40B4-BE49-F238E27FC236}">
                    <a16:creationId xmlns:a16="http://schemas.microsoft.com/office/drawing/2014/main" id="{7B1424F0-539D-485F-8E2F-2AD9B090E3D7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2">
                    <a:lumMod val="1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631370" y="1430358"/>
            <a:ext cx="2318529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000" dirty="0"/>
              <a:t>Системный подход </a:t>
            </a:r>
            <a:endParaRPr sz="2000" dirty="0"/>
          </a:p>
        </p:txBody>
      </p:sp>
      <p:sp>
        <p:nvSpPr>
          <p:cNvPr id="305" name="Google Shape;305;p37"/>
          <p:cNvSpPr txBox="1">
            <a:spLocks noGrp="1"/>
          </p:cNvSpPr>
          <p:nvPr>
            <p:ph type="subTitle" idx="1"/>
          </p:nvPr>
        </p:nvSpPr>
        <p:spPr>
          <a:xfrm>
            <a:off x="631370" y="2009445"/>
            <a:ext cx="2577100" cy="8403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рассмотрение ИТ-систем как целостных структур, состоящих из взаимосвязанных элементов</a:t>
            </a:r>
            <a:endParaRPr dirty="0"/>
          </a:p>
        </p:txBody>
      </p:sp>
      <p:sp>
        <p:nvSpPr>
          <p:cNvPr id="308" name="Google Shape;308;p37"/>
          <p:cNvSpPr txBox="1">
            <a:spLocks noGrp="1"/>
          </p:cNvSpPr>
          <p:nvPr>
            <p:ph type="subTitle" idx="5"/>
          </p:nvPr>
        </p:nvSpPr>
        <p:spPr>
          <a:xfrm>
            <a:off x="3217814" y="1876207"/>
            <a:ext cx="2221223" cy="8822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разделение ИТ-систем на независимые, заменяемые модули</a:t>
            </a:r>
            <a:endParaRPr dirty="0"/>
          </a:p>
        </p:txBody>
      </p:sp>
      <p:sp>
        <p:nvSpPr>
          <p:cNvPr id="309" name="Google Shape;309;p37"/>
          <p:cNvSpPr txBox="1">
            <a:spLocks noGrp="1"/>
          </p:cNvSpPr>
          <p:nvPr>
            <p:ph type="title" idx="6"/>
          </p:nvPr>
        </p:nvSpPr>
        <p:spPr>
          <a:xfrm>
            <a:off x="5499288" y="1246145"/>
            <a:ext cx="2505512" cy="7483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000" dirty="0"/>
              <a:t>Гибкость и адаптивность </a:t>
            </a:r>
            <a:endParaRPr sz="1800" dirty="0"/>
          </a:p>
        </p:txBody>
      </p:sp>
      <p:sp>
        <p:nvSpPr>
          <p:cNvPr id="311" name="Google Shape;311;p37"/>
          <p:cNvSpPr txBox="1">
            <a:spLocks noGrp="1"/>
          </p:cNvSpPr>
          <p:nvPr>
            <p:ph type="subTitle" idx="8"/>
          </p:nvPr>
        </p:nvSpPr>
        <p:spPr>
          <a:xfrm>
            <a:off x="5499288" y="2107867"/>
            <a:ext cx="2836083" cy="6767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способность ИТ-систем быстро перестраиваться под изменяющиеся условия и требования</a:t>
            </a:r>
            <a:endParaRPr dirty="0"/>
          </a:p>
        </p:txBody>
      </p:sp>
      <p:sp>
        <p:nvSpPr>
          <p:cNvPr id="312" name="Google Shape;312;p37"/>
          <p:cNvSpPr txBox="1">
            <a:spLocks noGrp="1"/>
          </p:cNvSpPr>
          <p:nvPr>
            <p:ph type="title" idx="9"/>
          </p:nvPr>
        </p:nvSpPr>
        <p:spPr>
          <a:xfrm>
            <a:off x="505306" y="3311975"/>
            <a:ext cx="2592141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1800" dirty="0"/>
              <a:t>Масштабируемость</a:t>
            </a:r>
            <a:endParaRPr sz="1800" dirty="0"/>
          </a:p>
        </p:txBody>
      </p:sp>
      <p:sp>
        <p:nvSpPr>
          <p:cNvPr id="314" name="Google Shape;314;p37"/>
          <p:cNvSpPr txBox="1">
            <a:spLocks noGrp="1"/>
          </p:cNvSpPr>
          <p:nvPr>
            <p:ph type="subTitle" idx="14"/>
          </p:nvPr>
        </p:nvSpPr>
        <p:spPr>
          <a:xfrm>
            <a:off x="505306" y="4071276"/>
            <a:ext cx="2712508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возможность наращивания мощности, производительности и функциональности ИТ-систем</a:t>
            </a:r>
            <a:endParaRPr dirty="0"/>
          </a:p>
        </p:txBody>
      </p:sp>
      <p:sp>
        <p:nvSpPr>
          <p:cNvPr id="315" name="Google Shape;315;p37"/>
          <p:cNvSpPr txBox="1">
            <a:spLocks noGrp="1"/>
          </p:cNvSpPr>
          <p:nvPr>
            <p:ph type="title" idx="15"/>
          </p:nvPr>
        </p:nvSpPr>
        <p:spPr>
          <a:xfrm>
            <a:off x="3217814" y="3187311"/>
            <a:ext cx="2816761" cy="7735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1800" dirty="0"/>
              <a:t>Надежность и отказоустойчивость </a:t>
            </a:r>
            <a:endParaRPr sz="1200" dirty="0"/>
          </a:p>
        </p:txBody>
      </p:sp>
      <p:sp>
        <p:nvSpPr>
          <p:cNvPr id="318" name="Google Shape;318;p37"/>
          <p:cNvSpPr txBox="1">
            <a:spLocks noGrp="1"/>
          </p:cNvSpPr>
          <p:nvPr>
            <p:ph type="title" idx="18"/>
          </p:nvPr>
        </p:nvSpPr>
        <p:spPr>
          <a:xfrm>
            <a:off x="5848990" y="3273725"/>
            <a:ext cx="2549414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000" dirty="0"/>
              <a:t>Безопасность</a:t>
            </a:r>
            <a:endParaRPr sz="2000" dirty="0"/>
          </a:p>
        </p:txBody>
      </p:sp>
      <p:sp>
        <p:nvSpPr>
          <p:cNvPr id="320" name="Google Shape;320;p37"/>
          <p:cNvSpPr txBox="1">
            <a:spLocks noGrp="1"/>
          </p:cNvSpPr>
          <p:nvPr>
            <p:ph type="subTitle" idx="20"/>
          </p:nvPr>
        </p:nvSpPr>
        <p:spPr>
          <a:xfrm>
            <a:off x="5848990" y="4076821"/>
            <a:ext cx="2454255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защита ИТ-систем от несанкционированного доступа, утечки данных, вредоносных воздействий</a:t>
            </a:r>
            <a:endParaRPr dirty="0"/>
          </a:p>
        </p:txBody>
      </p:sp>
      <p:sp>
        <p:nvSpPr>
          <p:cNvPr id="321" name="Google Shape;321;p37"/>
          <p:cNvSpPr txBox="1">
            <a:spLocks noGrp="1"/>
          </p:cNvSpPr>
          <p:nvPr>
            <p:ph type="title" idx="21"/>
          </p:nvPr>
        </p:nvSpPr>
        <p:spPr>
          <a:xfrm>
            <a:off x="631371" y="36540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sz="2800" b="1" dirty="0"/>
              <a:t>Принципы реализации информационных технологий</a:t>
            </a:r>
            <a:endParaRPr lang="ru-RU" sz="2800" dirty="0"/>
          </a:p>
        </p:txBody>
      </p:sp>
      <p:cxnSp>
        <p:nvCxnSpPr>
          <p:cNvPr id="322" name="Google Shape;322;p37"/>
          <p:cNvCxnSpPr>
            <a:cxnSpLocks/>
          </p:cNvCxnSpPr>
          <p:nvPr/>
        </p:nvCxnSpPr>
        <p:spPr>
          <a:xfrm>
            <a:off x="631371" y="1181325"/>
            <a:ext cx="7533304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37"/>
          <p:cNvCxnSpPr>
            <a:cxnSpLocks/>
          </p:cNvCxnSpPr>
          <p:nvPr/>
        </p:nvCxnSpPr>
        <p:spPr>
          <a:xfrm>
            <a:off x="573314" y="2964600"/>
            <a:ext cx="7591556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EE806F6-DA4C-4262-865D-7A0E97578F86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3188347" y="1323013"/>
            <a:ext cx="2123400" cy="437400"/>
          </a:xfrm>
        </p:spPr>
        <p:txBody>
          <a:bodyPr/>
          <a:lstStyle/>
          <a:p>
            <a:r>
              <a:rPr lang="ru-RU" sz="2000" dirty="0"/>
              <a:t>Модульность</a:t>
            </a:r>
          </a:p>
        </p:txBody>
      </p:sp>
      <p:sp>
        <p:nvSpPr>
          <p:cNvPr id="21" name="Google Shape;314;p37">
            <a:extLst>
              <a:ext uri="{FF2B5EF4-FFF2-40B4-BE49-F238E27FC236}">
                <a16:creationId xmlns:a16="http://schemas.microsoft.com/office/drawing/2014/main" id="{1EFC93EE-2A23-422A-AFC1-4A63A9976095}"/>
              </a:ext>
            </a:extLst>
          </p:cNvPr>
          <p:cNvSpPr txBox="1">
            <a:spLocks/>
          </p:cNvSpPr>
          <p:nvPr/>
        </p:nvSpPr>
        <p:spPr>
          <a:xfrm>
            <a:off x="3217814" y="4124633"/>
            <a:ext cx="2712508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None/>
              <a:defRPr sz="1400" b="0" i="0" u="none" strike="noStrike" cap="none"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None/>
              <a:defRPr sz="1400" b="0" i="0" u="none" strike="noStrike" cap="none"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None/>
              <a:defRPr sz="1400" b="0" i="0" u="none" strike="noStrike" cap="none"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None/>
              <a:defRPr sz="1400" b="0" i="0" u="none" strike="noStrike" cap="none"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None/>
              <a:defRPr sz="1400" b="0" i="0" u="none" strike="noStrike" cap="none"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None/>
              <a:defRPr sz="1400" b="0" i="0" u="none" strike="noStrike" cap="none"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None/>
              <a:defRPr sz="1400" b="0" i="0" u="none" strike="noStrike" cap="none"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None/>
              <a:defRPr sz="1400" b="0" i="0" u="none" strike="noStrike" cap="none"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llanna"/>
              <a:buNone/>
              <a:defRPr sz="1400" b="0" i="0" u="none" strike="noStrike" cap="none">
                <a:solidFill>
                  <a:schemeClr val="dk2"/>
                </a:solidFill>
                <a:latin typeface="Mallanna"/>
                <a:ea typeface="Mallanna"/>
                <a:cs typeface="Mallanna"/>
                <a:sym typeface="Mallanna"/>
              </a:defRPr>
            </a:lvl9pPr>
          </a:lstStyle>
          <a:p>
            <a:pPr marL="0" indent="0"/>
            <a:r>
              <a:rPr lang="ru-RU" dirty="0"/>
              <a:t>обеспечение устойчивой работы ИТ-систем к сбоям, ошибкам и внешним воздействиям</a:t>
            </a:r>
          </a:p>
        </p:txBody>
      </p:sp>
    </p:spTree>
    <p:extLst>
      <p:ext uri="{BB962C8B-B14F-4D97-AF65-F5344CB8AC3E}">
        <p14:creationId xmlns:p14="http://schemas.microsoft.com/office/powerpoint/2010/main" val="1950657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3E7569-19D5-4684-AB3C-F7D18CA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1584575"/>
            <a:ext cx="6040119" cy="2590476"/>
          </a:xfrm>
        </p:spPr>
        <p:txBody>
          <a:bodyPr/>
          <a:lstStyle/>
          <a:p>
            <a:r>
              <a:rPr lang="ru-RU" sz="3600" b="1" dirty="0"/>
              <a:t>Функционирование информационных технологий</a:t>
            </a:r>
            <a:br>
              <a:rPr lang="ru-RU" sz="3200" dirty="0"/>
            </a:b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084061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>
            <a:spLocks noGrp="1"/>
          </p:cNvSpPr>
          <p:nvPr>
            <p:ph type="title"/>
          </p:nvPr>
        </p:nvSpPr>
        <p:spPr>
          <a:xfrm>
            <a:off x="715100" y="2402833"/>
            <a:ext cx="5331281" cy="108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/>
              <a:t>Сбор и ввод данных</a:t>
            </a:r>
            <a:endParaRPr dirty="0"/>
          </a:p>
        </p:txBody>
      </p:sp>
      <p:sp>
        <p:nvSpPr>
          <p:cNvPr id="340" name="Google Shape;340;p39"/>
          <p:cNvSpPr txBox="1">
            <a:spLocks noGrp="1"/>
          </p:cNvSpPr>
          <p:nvPr>
            <p:ph type="title" idx="2"/>
          </p:nvPr>
        </p:nvSpPr>
        <p:spPr>
          <a:xfrm>
            <a:off x="715100" y="1561033"/>
            <a:ext cx="112199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tx2">
                    <a:lumMod val="75000"/>
                  </a:schemeClr>
                </a:solidFill>
              </a:rPr>
              <a:t>01.</a:t>
            </a:r>
            <a:endParaRPr sz="54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342" name="Google Shape;342;p39"/>
          <p:cNvCxnSpPr/>
          <p:nvPr/>
        </p:nvCxnSpPr>
        <p:spPr>
          <a:xfrm>
            <a:off x="715100" y="1292921"/>
            <a:ext cx="5083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39"/>
          <p:cNvCxnSpPr/>
          <p:nvPr/>
        </p:nvCxnSpPr>
        <p:spPr>
          <a:xfrm>
            <a:off x="760700" y="3850563"/>
            <a:ext cx="504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>
            <a:spLocks noGrp="1"/>
          </p:cNvSpPr>
          <p:nvPr>
            <p:ph type="title"/>
          </p:nvPr>
        </p:nvSpPr>
        <p:spPr>
          <a:xfrm>
            <a:off x="4378808" y="2461128"/>
            <a:ext cx="3645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Применение</a:t>
            </a:r>
            <a:endParaRPr dirty="0"/>
          </a:p>
        </p:txBody>
      </p:sp>
      <p:sp>
        <p:nvSpPr>
          <p:cNvPr id="349" name="Google Shape;349;p40"/>
          <p:cNvSpPr txBox="1">
            <a:spLocks noGrp="1"/>
          </p:cNvSpPr>
          <p:nvPr>
            <p:ph type="body" idx="1"/>
          </p:nvPr>
        </p:nvSpPr>
        <p:spPr>
          <a:xfrm>
            <a:off x="4378800" y="3150975"/>
            <a:ext cx="3658500" cy="13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ru-RU" dirty="0"/>
              <a:t>Преобразование аналоговых данных в цифровую форму с помощью сенсорных устройств</a:t>
            </a:r>
            <a:endParaRPr dirty="0"/>
          </a:p>
        </p:txBody>
      </p:sp>
      <p:cxnSp>
        <p:nvCxnSpPr>
          <p:cNvPr id="350" name="Google Shape;350;p40"/>
          <p:cNvCxnSpPr/>
          <p:nvPr/>
        </p:nvCxnSpPr>
        <p:spPr>
          <a:xfrm>
            <a:off x="4369008" y="2215721"/>
            <a:ext cx="3658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1" name="Google Shape;351;p40"/>
          <p:cNvPicPr preferRelativeResize="0"/>
          <p:nvPr/>
        </p:nvPicPr>
        <p:blipFill>
          <a:blip r:embed="rId3"/>
          <a:srcRect/>
          <a:stretch/>
        </p:blipFill>
        <p:spPr>
          <a:xfrm>
            <a:off x="528672" y="1368557"/>
            <a:ext cx="3406952" cy="2185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873;p72">
            <a:extLst>
              <a:ext uri="{FF2B5EF4-FFF2-40B4-BE49-F238E27FC236}">
                <a16:creationId xmlns:a16="http://schemas.microsoft.com/office/drawing/2014/main" id="{328705D1-09CE-4934-A148-8E3C57F14E4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2682031">
            <a:off x="-426580" y="3806456"/>
            <a:ext cx="1910503" cy="1599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>
            <a:spLocks noGrp="1"/>
          </p:cNvSpPr>
          <p:nvPr>
            <p:ph type="title"/>
          </p:nvPr>
        </p:nvSpPr>
        <p:spPr>
          <a:xfrm>
            <a:off x="715100" y="2487894"/>
            <a:ext cx="5331281" cy="108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/>
              <a:t>Обработка и анализ данных</a:t>
            </a:r>
            <a:endParaRPr dirty="0"/>
          </a:p>
        </p:txBody>
      </p:sp>
      <p:sp>
        <p:nvSpPr>
          <p:cNvPr id="340" name="Google Shape;340;p39"/>
          <p:cNvSpPr txBox="1">
            <a:spLocks noGrp="1"/>
          </p:cNvSpPr>
          <p:nvPr>
            <p:ph type="title" idx="2"/>
          </p:nvPr>
        </p:nvSpPr>
        <p:spPr>
          <a:xfrm>
            <a:off x="715100" y="1561033"/>
            <a:ext cx="1297998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tx2">
                    <a:lumMod val="75000"/>
                  </a:schemeClr>
                </a:solidFill>
              </a:rPr>
              <a:t>0</a:t>
            </a:r>
            <a:r>
              <a:rPr lang="ru-RU" sz="5400" dirty="0">
                <a:solidFill>
                  <a:schemeClr val="tx2">
                    <a:lumMod val="75000"/>
                  </a:schemeClr>
                </a:solidFill>
              </a:rPr>
              <a:t>2</a:t>
            </a:r>
            <a:r>
              <a:rPr lang="en" sz="5400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sz="54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342" name="Google Shape;342;p39"/>
          <p:cNvCxnSpPr/>
          <p:nvPr/>
        </p:nvCxnSpPr>
        <p:spPr>
          <a:xfrm>
            <a:off x="715100" y="1292921"/>
            <a:ext cx="5083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39"/>
          <p:cNvCxnSpPr/>
          <p:nvPr/>
        </p:nvCxnSpPr>
        <p:spPr>
          <a:xfrm>
            <a:off x="760700" y="3850563"/>
            <a:ext cx="504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01984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>
            <a:spLocks noGrp="1"/>
          </p:cNvSpPr>
          <p:nvPr>
            <p:ph type="title"/>
          </p:nvPr>
        </p:nvSpPr>
        <p:spPr>
          <a:xfrm>
            <a:off x="4378808" y="2461128"/>
            <a:ext cx="3645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Применение</a:t>
            </a:r>
            <a:endParaRPr dirty="0"/>
          </a:p>
        </p:txBody>
      </p:sp>
      <p:sp>
        <p:nvSpPr>
          <p:cNvPr id="349" name="Google Shape;349;p40"/>
          <p:cNvSpPr txBox="1">
            <a:spLocks noGrp="1"/>
          </p:cNvSpPr>
          <p:nvPr>
            <p:ph type="body" idx="1"/>
          </p:nvPr>
        </p:nvSpPr>
        <p:spPr>
          <a:xfrm>
            <a:off x="4378800" y="3150975"/>
            <a:ext cx="3658500" cy="13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ru-RU" dirty="0"/>
              <a:t>Реализация аналитических и прогнозных моделей, визуализация данных</a:t>
            </a:r>
            <a:endParaRPr dirty="0"/>
          </a:p>
        </p:txBody>
      </p:sp>
      <p:cxnSp>
        <p:nvCxnSpPr>
          <p:cNvPr id="350" name="Google Shape;350;p40"/>
          <p:cNvCxnSpPr/>
          <p:nvPr/>
        </p:nvCxnSpPr>
        <p:spPr>
          <a:xfrm>
            <a:off x="4369008" y="2215721"/>
            <a:ext cx="3658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1" name="Google Shape;351;p40"/>
          <p:cNvPicPr preferRelativeResize="0"/>
          <p:nvPr/>
        </p:nvPicPr>
        <p:blipFill>
          <a:blip r:embed="rId3"/>
          <a:srcRect/>
          <a:stretch/>
        </p:blipFill>
        <p:spPr>
          <a:xfrm>
            <a:off x="593612" y="1368557"/>
            <a:ext cx="3277072" cy="2185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873;p72">
            <a:extLst>
              <a:ext uri="{FF2B5EF4-FFF2-40B4-BE49-F238E27FC236}">
                <a16:creationId xmlns:a16="http://schemas.microsoft.com/office/drawing/2014/main" id="{328705D1-09CE-4934-A148-8E3C57F14E4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2682031">
            <a:off x="-426580" y="3806456"/>
            <a:ext cx="1910503" cy="1599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4901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>
            <a:spLocks noGrp="1"/>
          </p:cNvSpPr>
          <p:nvPr>
            <p:ph type="title"/>
          </p:nvPr>
        </p:nvSpPr>
        <p:spPr>
          <a:xfrm>
            <a:off x="715100" y="2402833"/>
            <a:ext cx="5331281" cy="108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/>
              <a:t>Хранение и накопление данных</a:t>
            </a:r>
            <a:endParaRPr dirty="0"/>
          </a:p>
        </p:txBody>
      </p:sp>
      <p:sp>
        <p:nvSpPr>
          <p:cNvPr id="340" name="Google Shape;340;p39"/>
          <p:cNvSpPr txBox="1">
            <a:spLocks noGrp="1"/>
          </p:cNvSpPr>
          <p:nvPr>
            <p:ph type="title" idx="2"/>
          </p:nvPr>
        </p:nvSpPr>
        <p:spPr>
          <a:xfrm>
            <a:off x="715100" y="1561033"/>
            <a:ext cx="1297998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tx2">
                    <a:lumMod val="75000"/>
                  </a:schemeClr>
                </a:solidFill>
              </a:rPr>
              <a:t>0</a:t>
            </a:r>
            <a:r>
              <a:rPr lang="ru-RU" sz="5400" dirty="0">
                <a:solidFill>
                  <a:schemeClr val="tx2">
                    <a:lumMod val="75000"/>
                  </a:schemeClr>
                </a:solidFill>
              </a:rPr>
              <a:t>3</a:t>
            </a:r>
            <a:r>
              <a:rPr lang="en" sz="5400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sz="54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342" name="Google Shape;342;p39"/>
          <p:cNvCxnSpPr/>
          <p:nvPr/>
        </p:nvCxnSpPr>
        <p:spPr>
          <a:xfrm>
            <a:off x="715100" y="1292921"/>
            <a:ext cx="5083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39"/>
          <p:cNvCxnSpPr/>
          <p:nvPr/>
        </p:nvCxnSpPr>
        <p:spPr>
          <a:xfrm>
            <a:off x="760700" y="3850563"/>
            <a:ext cx="504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1587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>
            <a:spLocks noGrp="1"/>
          </p:cNvSpPr>
          <p:nvPr>
            <p:ph type="title"/>
          </p:nvPr>
        </p:nvSpPr>
        <p:spPr>
          <a:xfrm>
            <a:off x="4378808" y="2461128"/>
            <a:ext cx="3645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Применение</a:t>
            </a:r>
            <a:endParaRPr dirty="0"/>
          </a:p>
        </p:txBody>
      </p:sp>
      <p:sp>
        <p:nvSpPr>
          <p:cNvPr id="349" name="Google Shape;349;p40"/>
          <p:cNvSpPr txBox="1">
            <a:spLocks noGrp="1"/>
          </p:cNvSpPr>
          <p:nvPr>
            <p:ph type="body" idx="1"/>
          </p:nvPr>
        </p:nvSpPr>
        <p:spPr>
          <a:xfrm>
            <a:off x="4378800" y="3150975"/>
            <a:ext cx="3658500" cy="13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ru-RU" dirty="0"/>
              <a:t>Обеспечение целостности, доступности и безопасности хранимых данных</a:t>
            </a:r>
            <a:endParaRPr dirty="0"/>
          </a:p>
        </p:txBody>
      </p:sp>
      <p:cxnSp>
        <p:nvCxnSpPr>
          <p:cNvPr id="350" name="Google Shape;350;p40"/>
          <p:cNvCxnSpPr/>
          <p:nvPr/>
        </p:nvCxnSpPr>
        <p:spPr>
          <a:xfrm>
            <a:off x="4369008" y="2215721"/>
            <a:ext cx="3658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1" name="Google Shape;351;p40"/>
          <p:cNvPicPr preferRelativeResize="0"/>
          <p:nvPr/>
        </p:nvPicPr>
        <p:blipFill>
          <a:blip r:embed="rId3"/>
          <a:srcRect/>
          <a:stretch/>
        </p:blipFill>
        <p:spPr>
          <a:xfrm>
            <a:off x="661097" y="1368557"/>
            <a:ext cx="3142101" cy="2185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873;p72">
            <a:extLst>
              <a:ext uri="{FF2B5EF4-FFF2-40B4-BE49-F238E27FC236}">
                <a16:creationId xmlns:a16="http://schemas.microsoft.com/office/drawing/2014/main" id="{328705D1-09CE-4934-A148-8E3C57F14E4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2682031">
            <a:off x="-426580" y="3806456"/>
            <a:ext cx="1910503" cy="1599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7822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>
            <a:spLocks noGrp="1"/>
          </p:cNvSpPr>
          <p:nvPr>
            <p:ph type="title"/>
          </p:nvPr>
        </p:nvSpPr>
        <p:spPr>
          <a:xfrm>
            <a:off x="715100" y="2459540"/>
            <a:ext cx="5714053" cy="108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200" dirty="0"/>
              <a:t>Передача и распространение данных</a:t>
            </a:r>
            <a:endParaRPr sz="3200" dirty="0"/>
          </a:p>
        </p:txBody>
      </p:sp>
      <p:sp>
        <p:nvSpPr>
          <p:cNvPr id="340" name="Google Shape;340;p39"/>
          <p:cNvSpPr txBox="1">
            <a:spLocks noGrp="1"/>
          </p:cNvSpPr>
          <p:nvPr>
            <p:ph type="title" idx="2"/>
          </p:nvPr>
        </p:nvSpPr>
        <p:spPr>
          <a:xfrm>
            <a:off x="715100" y="1561033"/>
            <a:ext cx="1297998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tx2">
                    <a:lumMod val="75000"/>
                  </a:schemeClr>
                </a:solidFill>
              </a:rPr>
              <a:t>0</a:t>
            </a:r>
            <a:r>
              <a:rPr lang="ru-RU" sz="5400" dirty="0">
                <a:solidFill>
                  <a:schemeClr val="tx2">
                    <a:lumMod val="75000"/>
                  </a:schemeClr>
                </a:solidFill>
              </a:rPr>
              <a:t>4</a:t>
            </a:r>
            <a:r>
              <a:rPr lang="en" sz="5400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sz="54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342" name="Google Shape;342;p39"/>
          <p:cNvCxnSpPr/>
          <p:nvPr/>
        </p:nvCxnSpPr>
        <p:spPr>
          <a:xfrm>
            <a:off x="715100" y="1292921"/>
            <a:ext cx="5083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39"/>
          <p:cNvCxnSpPr/>
          <p:nvPr/>
        </p:nvCxnSpPr>
        <p:spPr>
          <a:xfrm>
            <a:off x="760700" y="3850563"/>
            <a:ext cx="504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74755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>
            <a:spLocks noGrp="1"/>
          </p:cNvSpPr>
          <p:nvPr>
            <p:ph type="title"/>
          </p:nvPr>
        </p:nvSpPr>
        <p:spPr>
          <a:xfrm>
            <a:off x="4378808" y="2461128"/>
            <a:ext cx="3645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Применение</a:t>
            </a:r>
            <a:endParaRPr dirty="0"/>
          </a:p>
        </p:txBody>
      </p:sp>
      <p:sp>
        <p:nvSpPr>
          <p:cNvPr id="349" name="Google Shape;349;p40"/>
          <p:cNvSpPr txBox="1">
            <a:spLocks noGrp="1"/>
          </p:cNvSpPr>
          <p:nvPr>
            <p:ph type="body" idx="1"/>
          </p:nvPr>
        </p:nvSpPr>
        <p:spPr>
          <a:xfrm>
            <a:off x="4378800" y="3150975"/>
            <a:ext cx="3658500" cy="13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ru-RU" dirty="0"/>
              <a:t>Реализация каналов передачи данных: локальные, глобальные, мобильные сети</a:t>
            </a:r>
            <a:endParaRPr dirty="0"/>
          </a:p>
        </p:txBody>
      </p:sp>
      <p:cxnSp>
        <p:nvCxnSpPr>
          <p:cNvPr id="350" name="Google Shape;350;p40"/>
          <p:cNvCxnSpPr/>
          <p:nvPr/>
        </p:nvCxnSpPr>
        <p:spPr>
          <a:xfrm>
            <a:off x="4369008" y="2215721"/>
            <a:ext cx="3658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1" name="Google Shape;351;p40"/>
          <p:cNvPicPr preferRelativeResize="0"/>
          <p:nvPr/>
        </p:nvPicPr>
        <p:blipFill>
          <a:blip r:embed="rId3"/>
          <a:srcRect/>
          <a:stretch/>
        </p:blipFill>
        <p:spPr>
          <a:xfrm>
            <a:off x="661097" y="1580165"/>
            <a:ext cx="3142101" cy="17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873;p72">
            <a:extLst>
              <a:ext uri="{FF2B5EF4-FFF2-40B4-BE49-F238E27FC236}">
                <a16:creationId xmlns:a16="http://schemas.microsoft.com/office/drawing/2014/main" id="{328705D1-09CE-4934-A148-8E3C57F14E4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2682031">
            <a:off x="-426580" y="3806456"/>
            <a:ext cx="1910503" cy="1599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3428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>
            <a:spLocks noGrp="1"/>
          </p:cNvSpPr>
          <p:nvPr>
            <p:ph type="title"/>
          </p:nvPr>
        </p:nvSpPr>
        <p:spPr>
          <a:xfrm>
            <a:off x="715100" y="2402833"/>
            <a:ext cx="5331281" cy="108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200" dirty="0"/>
              <a:t>Представление и визуализация данных</a:t>
            </a:r>
            <a:endParaRPr sz="3200" dirty="0"/>
          </a:p>
        </p:txBody>
      </p:sp>
      <p:sp>
        <p:nvSpPr>
          <p:cNvPr id="340" name="Google Shape;340;p39"/>
          <p:cNvSpPr txBox="1">
            <a:spLocks noGrp="1"/>
          </p:cNvSpPr>
          <p:nvPr>
            <p:ph type="title" idx="2"/>
          </p:nvPr>
        </p:nvSpPr>
        <p:spPr>
          <a:xfrm>
            <a:off x="715100" y="1561033"/>
            <a:ext cx="1297998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tx2">
                    <a:lumMod val="75000"/>
                  </a:schemeClr>
                </a:solidFill>
              </a:rPr>
              <a:t>0</a:t>
            </a:r>
            <a:r>
              <a:rPr lang="ru-RU" sz="5400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en" sz="5400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sz="54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342" name="Google Shape;342;p39"/>
          <p:cNvCxnSpPr/>
          <p:nvPr/>
        </p:nvCxnSpPr>
        <p:spPr>
          <a:xfrm>
            <a:off x="715100" y="1292921"/>
            <a:ext cx="5083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39"/>
          <p:cNvCxnSpPr/>
          <p:nvPr/>
        </p:nvCxnSpPr>
        <p:spPr>
          <a:xfrm>
            <a:off x="760700" y="3850563"/>
            <a:ext cx="504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04488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>
            <a:spLocks noGrp="1"/>
          </p:cNvSpPr>
          <p:nvPr>
            <p:ph type="title"/>
          </p:nvPr>
        </p:nvSpPr>
        <p:spPr>
          <a:xfrm>
            <a:off x="4378808" y="2461128"/>
            <a:ext cx="3645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Применение</a:t>
            </a:r>
            <a:endParaRPr dirty="0"/>
          </a:p>
        </p:txBody>
      </p:sp>
      <p:sp>
        <p:nvSpPr>
          <p:cNvPr id="349" name="Google Shape;349;p40"/>
          <p:cNvSpPr txBox="1">
            <a:spLocks noGrp="1"/>
          </p:cNvSpPr>
          <p:nvPr>
            <p:ph type="body" idx="1"/>
          </p:nvPr>
        </p:nvSpPr>
        <p:spPr>
          <a:xfrm>
            <a:off x="4378800" y="3150975"/>
            <a:ext cx="3658500" cy="13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ru-RU" dirty="0"/>
              <a:t>Использование графических, мультимедийных и других форматов для визуального представления информации</a:t>
            </a:r>
            <a:endParaRPr dirty="0"/>
          </a:p>
        </p:txBody>
      </p:sp>
      <p:cxnSp>
        <p:nvCxnSpPr>
          <p:cNvPr id="350" name="Google Shape;350;p40"/>
          <p:cNvCxnSpPr/>
          <p:nvPr/>
        </p:nvCxnSpPr>
        <p:spPr>
          <a:xfrm>
            <a:off x="4369008" y="2215721"/>
            <a:ext cx="3658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1" name="Google Shape;351;p40"/>
          <p:cNvPicPr preferRelativeResize="0"/>
          <p:nvPr/>
        </p:nvPicPr>
        <p:blipFill rotWithShape="1">
          <a:blip r:embed="rId3"/>
          <a:srcRect l="4227"/>
          <a:stretch/>
        </p:blipFill>
        <p:spPr>
          <a:xfrm>
            <a:off x="453655" y="1195433"/>
            <a:ext cx="3377896" cy="204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873;p72">
            <a:extLst>
              <a:ext uri="{FF2B5EF4-FFF2-40B4-BE49-F238E27FC236}">
                <a16:creationId xmlns:a16="http://schemas.microsoft.com/office/drawing/2014/main" id="{328705D1-09CE-4934-A148-8E3C57F14E4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2682031">
            <a:off x="-426580" y="3806456"/>
            <a:ext cx="1910503" cy="1599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9305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>
            <a:spLocks noGrp="1"/>
          </p:cNvSpPr>
          <p:nvPr>
            <p:ph type="title"/>
          </p:nvPr>
        </p:nvSpPr>
        <p:spPr>
          <a:xfrm>
            <a:off x="715100" y="2402833"/>
            <a:ext cx="5331281" cy="108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/>
              <a:t>Управление и администрирование</a:t>
            </a:r>
            <a:endParaRPr sz="2800" dirty="0"/>
          </a:p>
        </p:txBody>
      </p:sp>
      <p:sp>
        <p:nvSpPr>
          <p:cNvPr id="340" name="Google Shape;340;p39"/>
          <p:cNvSpPr txBox="1">
            <a:spLocks noGrp="1"/>
          </p:cNvSpPr>
          <p:nvPr>
            <p:ph type="title" idx="2"/>
          </p:nvPr>
        </p:nvSpPr>
        <p:spPr>
          <a:xfrm>
            <a:off x="715100" y="1561033"/>
            <a:ext cx="1297998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tx2">
                    <a:lumMod val="75000"/>
                  </a:schemeClr>
                </a:solidFill>
              </a:rPr>
              <a:t>0</a:t>
            </a:r>
            <a:r>
              <a:rPr lang="ru-RU" sz="5400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en" sz="5400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sz="54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342" name="Google Shape;342;p39"/>
          <p:cNvCxnSpPr/>
          <p:nvPr/>
        </p:nvCxnSpPr>
        <p:spPr>
          <a:xfrm>
            <a:off x="715100" y="1292921"/>
            <a:ext cx="5083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39"/>
          <p:cNvCxnSpPr/>
          <p:nvPr/>
        </p:nvCxnSpPr>
        <p:spPr>
          <a:xfrm>
            <a:off x="760700" y="3850563"/>
            <a:ext cx="504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90926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>
            <a:spLocks noGrp="1"/>
          </p:cNvSpPr>
          <p:nvPr>
            <p:ph type="title"/>
          </p:nvPr>
        </p:nvSpPr>
        <p:spPr>
          <a:xfrm>
            <a:off x="4378808" y="2461128"/>
            <a:ext cx="3645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Применение</a:t>
            </a:r>
            <a:endParaRPr dirty="0"/>
          </a:p>
        </p:txBody>
      </p:sp>
      <p:sp>
        <p:nvSpPr>
          <p:cNvPr id="349" name="Google Shape;349;p40"/>
          <p:cNvSpPr txBox="1">
            <a:spLocks noGrp="1"/>
          </p:cNvSpPr>
          <p:nvPr>
            <p:ph type="body" idx="1"/>
          </p:nvPr>
        </p:nvSpPr>
        <p:spPr>
          <a:xfrm>
            <a:off x="4378800" y="3150975"/>
            <a:ext cx="3658500" cy="13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ru-RU" dirty="0"/>
              <a:t>Контроль, мониторинг и оптимизация работы информационных технологий</a:t>
            </a:r>
            <a:endParaRPr dirty="0"/>
          </a:p>
        </p:txBody>
      </p:sp>
      <p:cxnSp>
        <p:nvCxnSpPr>
          <p:cNvPr id="350" name="Google Shape;350;p40"/>
          <p:cNvCxnSpPr/>
          <p:nvPr/>
        </p:nvCxnSpPr>
        <p:spPr>
          <a:xfrm>
            <a:off x="4369008" y="2215721"/>
            <a:ext cx="3658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1" name="Google Shape;351;p40"/>
          <p:cNvPicPr preferRelativeResize="0"/>
          <p:nvPr/>
        </p:nvPicPr>
        <p:blipFill rotWithShape="1">
          <a:blip r:embed="rId3"/>
          <a:srcRect l="15108" r="10186"/>
          <a:stretch/>
        </p:blipFill>
        <p:spPr>
          <a:xfrm>
            <a:off x="528671" y="1356253"/>
            <a:ext cx="3196855" cy="194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873;p72">
            <a:extLst>
              <a:ext uri="{FF2B5EF4-FFF2-40B4-BE49-F238E27FC236}">
                <a16:creationId xmlns:a16="http://schemas.microsoft.com/office/drawing/2014/main" id="{328705D1-09CE-4934-A148-8E3C57F14E4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2682031">
            <a:off x="-426580" y="3806456"/>
            <a:ext cx="1910503" cy="1599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017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67AE8-DFA8-4CB2-979F-A4513A943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200" y="2501462"/>
            <a:ext cx="2088900" cy="462900"/>
          </a:xfrm>
        </p:spPr>
        <p:txBody>
          <a:bodyPr/>
          <a:lstStyle/>
          <a:p>
            <a:r>
              <a:rPr lang="ru-RU" sz="1600" dirty="0"/>
              <a:t>Аппаратно-техническая база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4FEE4AA-9628-4079-BEAA-8E83CF062A2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314531" y="2419488"/>
            <a:ext cx="2572451" cy="650283"/>
          </a:xfrm>
        </p:spPr>
        <p:txBody>
          <a:bodyPr/>
          <a:lstStyle/>
          <a:p>
            <a:r>
              <a:rPr lang="ru-RU" sz="1400" dirty="0"/>
              <a:t>Программно-алгоритмическая база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AA4EA59-2A6E-49BA-BA68-3931FE65510D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6121064" y="2501462"/>
            <a:ext cx="2088900" cy="462900"/>
          </a:xfrm>
        </p:spPr>
        <p:txBody>
          <a:bodyPr/>
          <a:lstStyle/>
          <a:p>
            <a:r>
              <a:rPr lang="ru-RU" sz="1400" dirty="0"/>
              <a:t>Коммуникационная инфраструктура: 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A04DEDA1-B67B-40A6-97C8-40062B5C7239}"/>
              </a:ext>
            </a:extLst>
          </p:cNvPr>
          <p:cNvSpPr>
            <a:spLocks noGrp="1"/>
          </p:cNvSpPr>
          <p:nvPr>
            <p:ph type="title" idx="6"/>
          </p:nvPr>
        </p:nvSpPr>
        <p:spPr>
          <a:xfrm>
            <a:off x="598700" y="397466"/>
            <a:ext cx="7704000" cy="1020918"/>
          </a:xfrm>
        </p:spPr>
        <p:txBody>
          <a:bodyPr/>
          <a:lstStyle/>
          <a:p>
            <a:pPr algn="ctr"/>
            <a:r>
              <a:rPr lang="ru-RU" sz="2800" b="1" dirty="0"/>
              <a:t>Связь информационных технологий </a:t>
            </a:r>
            <a:br>
              <a:rPr lang="ru-RU" sz="2800" b="1" dirty="0"/>
            </a:br>
            <a:r>
              <a:rPr lang="ru-RU" sz="2800" b="1" dirty="0"/>
              <a:t>и цифровой среды</a:t>
            </a:r>
            <a:endParaRPr lang="ru-RU" dirty="0"/>
          </a:p>
        </p:txBody>
      </p:sp>
      <p:sp>
        <p:nvSpPr>
          <p:cNvPr id="10" name="Заголовок 7">
            <a:extLst>
              <a:ext uri="{FF2B5EF4-FFF2-40B4-BE49-F238E27FC236}">
                <a16:creationId xmlns:a16="http://schemas.microsoft.com/office/drawing/2014/main" id="{0C1C399E-BDAA-447B-8688-F3036731849E}"/>
              </a:ext>
            </a:extLst>
          </p:cNvPr>
          <p:cNvSpPr txBox="1">
            <a:spLocks/>
          </p:cNvSpPr>
          <p:nvPr/>
        </p:nvSpPr>
        <p:spPr>
          <a:xfrm>
            <a:off x="598700" y="1590266"/>
            <a:ext cx="7704000" cy="582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usso One"/>
              <a:buNone/>
              <a:defRPr sz="3100" b="0" i="0" u="none" strike="noStrike" cap="non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1. Формирование технологической инфраструктуры.</a:t>
            </a:r>
            <a:endParaRPr lang="ru-RU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2607D3-1025-492C-BAB7-BB6A54476B07}"/>
              </a:ext>
            </a:extLst>
          </p:cNvPr>
          <p:cNvSpPr txBox="1"/>
          <p:nvPr/>
        </p:nvSpPr>
        <p:spPr>
          <a:xfrm>
            <a:off x="846200" y="3258457"/>
            <a:ext cx="23759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серверы, центры обработки данных, системы хранения данных, клиентские устройства</a:t>
            </a:r>
          </a:p>
          <a:p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C3CD84-4FD5-4BEB-BCF9-8C6069896807}"/>
              </a:ext>
            </a:extLst>
          </p:cNvPr>
          <p:cNvSpPr txBox="1"/>
          <p:nvPr/>
        </p:nvSpPr>
        <p:spPr>
          <a:xfrm>
            <a:off x="3314531" y="3258457"/>
            <a:ext cx="27141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операционные системы, системы управления базами данных, платформенное и прикладное программное обеспечение.</a:t>
            </a:r>
          </a:p>
          <a:p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919826-D33A-47A5-8935-7F86AB8E8BBB}"/>
              </a:ext>
            </a:extLst>
          </p:cNvPr>
          <p:cNvSpPr txBox="1"/>
          <p:nvPr/>
        </p:nvSpPr>
        <p:spPr>
          <a:xfrm>
            <a:off x="6121064" y="3258457"/>
            <a:ext cx="23759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сети передачи данных, протоколы обмена, технологии беспроводной связи.</a:t>
            </a:r>
          </a:p>
        </p:txBody>
      </p:sp>
    </p:spTree>
    <p:extLst>
      <p:ext uri="{BB962C8B-B14F-4D97-AF65-F5344CB8AC3E}">
        <p14:creationId xmlns:p14="http://schemas.microsoft.com/office/powerpoint/2010/main" val="3120577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2. </a:t>
            </a:r>
            <a:r>
              <a:rPr lang="ru-RU" sz="1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Обеспечение информационного взаимодействия</a:t>
            </a:r>
            <a:endParaRPr sz="1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4" name="Google Shape;694;p60"/>
          <p:cNvSpPr txBox="1"/>
          <p:nvPr/>
        </p:nvSpPr>
        <p:spPr>
          <a:xfrm>
            <a:off x="3833800" y="1455362"/>
            <a:ext cx="2352449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29235C"/>
                </a:solidFill>
                <a:latin typeface="Russo One"/>
                <a:ea typeface="Russo One"/>
                <a:cs typeface="Russo One"/>
                <a:sym typeface="Russo One"/>
              </a:rPr>
              <a:t>организации</a:t>
            </a:r>
            <a:endParaRPr sz="2400" dirty="0">
              <a:solidFill>
                <a:srgbClr val="29235C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cxnSp>
        <p:nvCxnSpPr>
          <p:cNvPr id="696" name="Google Shape;696;p60"/>
          <p:cNvCxnSpPr/>
          <p:nvPr/>
        </p:nvCxnSpPr>
        <p:spPr>
          <a:xfrm>
            <a:off x="3718085" y="1463200"/>
            <a:ext cx="1706400" cy="0"/>
          </a:xfrm>
          <a:prstGeom prst="straightConnector1">
            <a:avLst/>
          </a:prstGeom>
          <a:noFill/>
          <a:ln w="19050" cap="flat" cmpd="sng">
            <a:solidFill>
              <a:srgbClr val="29235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7" name="Google Shape;697;p60"/>
          <p:cNvSpPr txBox="1"/>
          <p:nvPr/>
        </p:nvSpPr>
        <p:spPr>
          <a:xfrm>
            <a:off x="566932" y="2484575"/>
            <a:ext cx="2209945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29235C"/>
                </a:solidFill>
                <a:latin typeface="Russo One"/>
                <a:ea typeface="Russo One"/>
                <a:cs typeface="Russo One"/>
                <a:sym typeface="Russo One"/>
              </a:rPr>
              <a:t>Физические лица</a:t>
            </a:r>
            <a:endParaRPr sz="2400" dirty="0">
              <a:solidFill>
                <a:srgbClr val="29235C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cxnSp>
        <p:nvCxnSpPr>
          <p:cNvPr id="699" name="Google Shape;699;p60"/>
          <p:cNvCxnSpPr/>
          <p:nvPr/>
        </p:nvCxnSpPr>
        <p:spPr>
          <a:xfrm>
            <a:off x="1054588" y="2315563"/>
            <a:ext cx="1729500" cy="0"/>
          </a:xfrm>
          <a:prstGeom prst="straightConnector1">
            <a:avLst/>
          </a:prstGeom>
          <a:noFill/>
          <a:ln w="19050" cap="flat" cmpd="sng">
            <a:solidFill>
              <a:srgbClr val="29235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0" name="Google Shape;700;p60"/>
          <p:cNvSpPr txBox="1"/>
          <p:nvPr/>
        </p:nvSpPr>
        <p:spPr>
          <a:xfrm>
            <a:off x="6695167" y="2484575"/>
            <a:ext cx="17382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29235C"/>
                </a:solidFill>
                <a:latin typeface="Russo One"/>
                <a:ea typeface="Russo One"/>
                <a:cs typeface="Russo One"/>
                <a:sym typeface="Russo One"/>
              </a:rPr>
              <a:t>машины</a:t>
            </a:r>
            <a:endParaRPr sz="2400" dirty="0">
              <a:solidFill>
                <a:srgbClr val="29235C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cxnSp>
        <p:nvCxnSpPr>
          <p:cNvPr id="702" name="Google Shape;702;p60"/>
          <p:cNvCxnSpPr/>
          <p:nvPr/>
        </p:nvCxnSpPr>
        <p:spPr>
          <a:xfrm>
            <a:off x="6642549" y="2315563"/>
            <a:ext cx="1706400" cy="0"/>
          </a:xfrm>
          <a:prstGeom prst="straightConnector1">
            <a:avLst/>
          </a:prstGeom>
          <a:noFill/>
          <a:ln w="19050" cap="flat" cmpd="sng">
            <a:solidFill>
              <a:srgbClr val="29235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3" name="Google Shape;703;p60"/>
          <p:cNvSpPr txBox="1"/>
          <p:nvPr/>
        </p:nvSpPr>
        <p:spPr>
          <a:xfrm>
            <a:off x="2238511" y="3668126"/>
            <a:ext cx="3020046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29235C"/>
                </a:solidFill>
                <a:latin typeface="Russo One"/>
                <a:ea typeface="Russo One"/>
                <a:cs typeface="Russo One"/>
                <a:sym typeface="Russo One"/>
              </a:rPr>
              <a:t>Государственные органы</a:t>
            </a:r>
            <a:endParaRPr sz="2400" dirty="0">
              <a:solidFill>
                <a:srgbClr val="29235C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cxnSp>
        <p:nvCxnSpPr>
          <p:cNvPr id="705" name="Google Shape;705;p60"/>
          <p:cNvCxnSpPr/>
          <p:nvPr/>
        </p:nvCxnSpPr>
        <p:spPr>
          <a:xfrm>
            <a:off x="3718076" y="3247200"/>
            <a:ext cx="1706400" cy="0"/>
          </a:xfrm>
          <a:prstGeom prst="straightConnector1">
            <a:avLst/>
          </a:prstGeom>
          <a:noFill/>
          <a:ln w="19050" cap="flat" cmpd="sng">
            <a:solidFill>
              <a:srgbClr val="29235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9" name="Google Shape;709;p60"/>
          <p:cNvCxnSpPr>
            <a:cxnSpLocks/>
            <a:stCxn id="697" idx="3"/>
            <a:endCxn id="694" idx="1"/>
          </p:cNvCxnSpPr>
          <p:nvPr/>
        </p:nvCxnSpPr>
        <p:spPr>
          <a:xfrm flipV="1">
            <a:off x="2776877" y="1797062"/>
            <a:ext cx="1056923" cy="102921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710" name="Google Shape;710;p60"/>
          <p:cNvCxnSpPr>
            <a:cxnSpLocks/>
          </p:cNvCxnSpPr>
          <p:nvPr/>
        </p:nvCxnSpPr>
        <p:spPr>
          <a:xfrm>
            <a:off x="4738914" y="2311668"/>
            <a:ext cx="578633" cy="126047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711" name="Google Shape;711;p60"/>
          <p:cNvCxnSpPr>
            <a:cxnSpLocks/>
          </p:cNvCxnSpPr>
          <p:nvPr/>
        </p:nvCxnSpPr>
        <p:spPr>
          <a:xfrm>
            <a:off x="5167086" y="2138762"/>
            <a:ext cx="1475463" cy="48517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712" name="Google Shape;712;p60"/>
          <p:cNvCxnSpPr>
            <a:cxnSpLocks/>
          </p:cNvCxnSpPr>
          <p:nvPr/>
        </p:nvCxnSpPr>
        <p:spPr>
          <a:xfrm flipH="1">
            <a:off x="5904817" y="3210919"/>
            <a:ext cx="1516107" cy="77925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oval" w="med" len="med"/>
          </a:ln>
        </p:spPr>
      </p:cxnSp>
      <p:pic>
        <p:nvPicPr>
          <p:cNvPr id="713" name="Google Shape;71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812013" y="-1048550"/>
            <a:ext cx="2143125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38612" y="3990175"/>
            <a:ext cx="2600325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60"/>
          <p:cNvSpPr/>
          <p:nvPr/>
        </p:nvSpPr>
        <p:spPr>
          <a:xfrm rot="-3097821" flipH="1">
            <a:off x="7745267" y="-570242"/>
            <a:ext cx="777146" cy="1611734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60"/>
          <p:cNvSpPr/>
          <p:nvPr/>
        </p:nvSpPr>
        <p:spPr>
          <a:xfrm rot="-3097821" flipH="1">
            <a:off x="7882438" y="-746943"/>
            <a:ext cx="777146" cy="1611734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60"/>
          <p:cNvSpPr/>
          <p:nvPr/>
        </p:nvSpPr>
        <p:spPr>
          <a:xfrm rot="8157076" flipH="1">
            <a:off x="-83281" y="3473499"/>
            <a:ext cx="1022193" cy="2121828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60"/>
          <p:cNvSpPr/>
          <p:nvPr/>
        </p:nvSpPr>
        <p:spPr>
          <a:xfrm rot="8157076" flipH="1">
            <a:off x="-292967" y="3680311"/>
            <a:ext cx="1022193" cy="2121828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" name="Google Shape;712;p60">
            <a:extLst>
              <a:ext uri="{FF2B5EF4-FFF2-40B4-BE49-F238E27FC236}">
                <a16:creationId xmlns:a16="http://schemas.microsoft.com/office/drawing/2014/main" id="{EE87707C-65E0-4DAC-B3A8-E41498B8921E}"/>
              </a:ext>
            </a:extLst>
          </p:cNvPr>
          <p:cNvCxnSpPr>
            <a:cxnSpLocks/>
          </p:cNvCxnSpPr>
          <p:nvPr/>
        </p:nvCxnSpPr>
        <p:spPr>
          <a:xfrm flipH="1" flipV="1">
            <a:off x="2539870" y="3242942"/>
            <a:ext cx="1293930" cy="32920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3. Реализация цифровых сервисов </a:t>
            </a:r>
            <a:b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и автоматизация процессов</a:t>
            </a:r>
            <a:endParaRPr lang="ru-RU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43" name="Google Shape;2343;p63"/>
          <p:cNvSpPr/>
          <p:nvPr/>
        </p:nvSpPr>
        <p:spPr>
          <a:xfrm>
            <a:off x="1849341" y="2796725"/>
            <a:ext cx="230700" cy="230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4" name="Google Shape;2344;p63"/>
          <p:cNvSpPr/>
          <p:nvPr/>
        </p:nvSpPr>
        <p:spPr>
          <a:xfrm>
            <a:off x="3587541" y="2796725"/>
            <a:ext cx="230700" cy="230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5" name="Google Shape;2345;p63"/>
          <p:cNvSpPr/>
          <p:nvPr/>
        </p:nvSpPr>
        <p:spPr>
          <a:xfrm>
            <a:off x="5325741" y="2796725"/>
            <a:ext cx="230700" cy="230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6" name="Google Shape;2346;p63"/>
          <p:cNvSpPr/>
          <p:nvPr/>
        </p:nvSpPr>
        <p:spPr>
          <a:xfrm>
            <a:off x="7063941" y="2796725"/>
            <a:ext cx="230700" cy="230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47" name="Google Shape;2347;p63"/>
          <p:cNvCxnSpPr>
            <a:endCxn id="2343" idx="2"/>
          </p:cNvCxnSpPr>
          <p:nvPr/>
        </p:nvCxnSpPr>
        <p:spPr>
          <a:xfrm>
            <a:off x="733341" y="2912075"/>
            <a:ext cx="1116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348" name="Google Shape;2348;p63"/>
          <p:cNvCxnSpPr>
            <a:stCxn id="2343" idx="6"/>
            <a:endCxn id="2344" idx="2"/>
          </p:cNvCxnSpPr>
          <p:nvPr/>
        </p:nvCxnSpPr>
        <p:spPr>
          <a:xfrm>
            <a:off x="2080041" y="2912075"/>
            <a:ext cx="1507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349" name="Google Shape;2349;p63"/>
          <p:cNvCxnSpPr>
            <a:stCxn id="2344" idx="6"/>
            <a:endCxn id="2345" idx="2"/>
          </p:cNvCxnSpPr>
          <p:nvPr/>
        </p:nvCxnSpPr>
        <p:spPr>
          <a:xfrm>
            <a:off x="3818241" y="2912075"/>
            <a:ext cx="1507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350" name="Google Shape;2350;p63"/>
          <p:cNvCxnSpPr>
            <a:stCxn id="2345" idx="6"/>
            <a:endCxn id="2346" idx="2"/>
          </p:cNvCxnSpPr>
          <p:nvPr/>
        </p:nvCxnSpPr>
        <p:spPr>
          <a:xfrm>
            <a:off x="5556441" y="2912075"/>
            <a:ext cx="1507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351" name="Google Shape;2351;p63"/>
          <p:cNvCxnSpPr>
            <a:stCxn id="2346" idx="6"/>
          </p:cNvCxnSpPr>
          <p:nvPr/>
        </p:nvCxnSpPr>
        <p:spPr>
          <a:xfrm>
            <a:off x="7294641" y="2912075"/>
            <a:ext cx="114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352" name="Google Shape;2352;p63"/>
          <p:cNvCxnSpPr/>
          <p:nvPr/>
        </p:nvCxnSpPr>
        <p:spPr>
          <a:xfrm>
            <a:off x="818663" y="1304631"/>
            <a:ext cx="2292000" cy="0"/>
          </a:xfrm>
          <a:prstGeom prst="straightConnector1">
            <a:avLst/>
          </a:prstGeom>
          <a:noFill/>
          <a:ln w="19050" cap="flat" cmpd="sng">
            <a:solidFill>
              <a:srgbClr val="29235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3" name="Google Shape;2353;p63"/>
          <p:cNvCxnSpPr/>
          <p:nvPr/>
        </p:nvCxnSpPr>
        <p:spPr>
          <a:xfrm>
            <a:off x="4295088" y="1304631"/>
            <a:ext cx="2292000" cy="0"/>
          </a:xfrm>
          <a:prstGeom prst="straightConnector1">
            <a:avLst/>
          </a:prstGeom>
          <a:noFill/>
          <a:ln w="19050" cap="flat" cmpd="sng">
            <a:solidFill>
              <a:srgbClr val="29235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4" name="Google Shape;2354;p63"/>
          <p:cNvCxnSpPr/>
          <p:nvPr/>
        </p:nvCxnSpPr>
        <p:spPr>
          <a:xfrm>
            <a:off x="2550097" y="3219111"/>
            <a:ext cx="2292000" cy="0"/>
          </a:xfrm>
          <a:prstGeom prst="straightConnector1">
            <a:avLst/>
          </a:prstGeom>
          <a:noFill/>
          <a:ln w="19050" cap="flat" cmpd="sng">
            <a:solidFill>
              <a:srgbClr val="29235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5" name="Google Shape;2355;p63"/>
          <p:cNvCxnSpPr/>
          <p:nvPr/>
        </p:nvCxnSpPr>
        <p:spPr>
          <a:xfrm>
            <a:off x="6026522" y="3219111"/>
            <a:ext cx="2292000" cy="0"/>
          </a:xfrm>
          <a:prstGeom prst="straightConnector1">
            <a:avLst/>
          </a:prstGeom>
          <a:noFill/>
          <a:ln w="19050" cap="flat" cmpd="sng">
            <a:solidFill>
              <a:srgbClr val="29235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56" name="Google Shape;235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4125" y="3531413"/>
            <a:ext cx="2169730" cy="215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7" name="Google Shape;2357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8988" y="-803262"/>
            <a:ext cx="2695575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8" name="Google Shape;2358;p63"/>
          <p:cNvSpPr/>
          <p:nvPr/>
        </p:nvSpPr>
        <p:spPr>
          <a:xfrm rot="2643026">
            <a:off x="8093117" y="348337"/>
            <a:ext cx="844826" cy="1753512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9" name="Google Shape;2359;p63"/>
          <p:cNvSpPr/>
          <p:nvPr/>
        </p:nvSpPr>
        <p:spPr>
          <a:xfrm rot="2643026">
            <a:off x="7919847" y="177446"/>
            <a:ext cx="844826" cy="1753512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0" name="Google Shape;2360;p63"/>
          <p:cNvSpPr/>
          <p:nvPr/>
        </p:nvSpPr>
        <p:spPr>
          <a:xfrm rot="-2756974">
            <a:off x="-457423" y="2948531"/>
            <a:ext cx="844826" cy="1753512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1" name="Google Shape;2361;p63"/>
          <p:cNvSpPr/>
          <p:nvPr/>
        </p:nvSpPr>
        <p:spPr>
          <a:xfrm rot="-2756974">
            <a:off x="-628313" y="3121802"/>
            <a:ext cx="844826" cy="1753512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3;p37">
            <a:extLst>
              <a:ext uri="{FF2B5EF4-FFF2-40B4-BE49-F238E27FC236}">
                <a16:creationId xmlns:a16="http://schemas.microsoft.com/office/drawing/2014/main" id="{52F2C72D-FB7F-491E-8485-326170A3BC05}"/>
              </a:ext>
            </a:extLst>
          </p:cNvPr>
          <p:cNvSpPr txBox="1">
            <a:spLocks/>
          </p:cNvSpPr>
          <p:nvPr/>
        </p:nvSpPr>
        <p:spPr>
          <a:xfrm>
            <a:off x="787983" y="1613277"/>
            <a:ext cx="2583656" cy="111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usso One"/>
              <a:buNone/>
              <a:defRPr sz="3100" b="0" i="0" u="none" strike="noStrike" cap="non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z="2000"/>
              <a:t>Государственные информационные системы</a:t>
            </a:r>
          </a:p>
          <a:p>
            <a:r>
              <a:rPr lang="ru-RU" sz="2000"/>
              <a:t> </a:t>
            </a:r>
            <a:endParaRPr lang="ru-RU" sz="2000" dirty="0"/>
          </a:p>
        </p:txBody>
      </p:sp>
      <p:sp>
        <p:nvSpPr>
          <p:cNvPr id="31" name="Google Shape;303;p37">
            <a:extLst>
              <a:ext uri="{FF2B5EF4-FFF2-40B4-BE49-F238E27FC236}">
                <a16:creationId xmlns:a16="http://schemas.microsoft.com/office/drawing/2014/main" id="{333D8194-941F-46E1-9CCF-827C027FDFA8}"/>
              </a:ext>
            </a:extLst>
          </p:cNvPr>
          <p:cNvSpPr txBox="1">
            <a:spLocks/>
          </p:cNvSpPr>
          <p:nvPr/>
        </p:nvSpPr>
        <p:spPr>
          <a:xfrm>
            <a:off x="4083379" y="1611667"/>
            <a:ext cx="2583656" cy="111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usso One"/>
              <a:buNone/>
              <a:defRPr sz="3100" b="0" i="0" u="none" strike="noStrike" cap="non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z="2000" dirty="0"/>
              <a:t>Кооперативные информационные системы</a:t>
            </a:r>
          </a:p>
          <a:p>
            <a:r>
              <a:rPr lang="ru-RU" sz="2000" dirty="0"/>
              <a:t> </a:t>
            </a:r>
          </a:p>
        </p:txBody>
      </p:sp>
      <p:sp>
        <p:nvSpPr>
          <p:cNvPr id="32" name="Google Shape;303;p37">
            <a:extLst>
              <a:ext uri="{FF2B5EF4-FFF2-40B4-BE49-F238E27FC236}">
                <a16:creationId xmlns:a16="http://schemas.microsoft.com/office/drawing/2014/main" id="{42D13E7F-8D34-49F0-890B-B84197A87CF7}"/>
              </a:ext>
            </a:extLst>
          </p:cNvPr>
          <p:cNvSpPr txBox="1">
            <a:spLocks/>
          </p:cNvSpPr>
          <p:nvPr/>
        </p:nvSpPr>
        <p:spPr>
          <a:xfrm>
            <a:off x="2448868" y="3410798"/>
            <a:ext cx="2738745" cy="111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usso One"/>
              <a:buNone/>
              <a:defRPr sz="3100" b="0" i="0" u="none" strike="noStrike" cap="non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lvl="0"/>
            <a:r>
              <a:rPr lang="ru-RU" sz="2000" dirty="0"/>
              <a:t>Системы электронного документооборота</a:t>
            </a:r>
            <a:r>
              <a:rPr lang="ru-RU" sz="1400" dirty="0"/>
              <a:t> </a:t>
            </a:r>
          </a:p>
        </p:txBody>
      </p:sp>
      <p:sp>
        <p:nvSpPr>
          <p:cNvPr id="33" name="Google Shape;303;p37">
            <a:extLst>
              <a:ext uri="{FF2B5EF4-FFF2-40B4-BE49-F238E27FC236}">
                <a16:creationId xmlns:a16="http://schemas.microsoft.com/office/drawing/2014/main" id="{A169845F-A133-4A5C-8AE1-BE4DC4DDB57F}"/>
              </a:ext>
            </a:extLst>
          </p:cNvPr>
          <p:cNvSpPr txBox="1">
            <a:spLocks/>
          </p:cNvSpPr>
          <p:nvPr/>
        </p:nvSpPr>
        <p:spPr>
          <a:xfrm>
            <a:off x="5887463" y="3483904"/>
            <a:ext cx="2583656" cy="111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usso One"/>
              <a:buNone/>
              <a:defRPr sz="3100" b="0" i="0" u="none" strike="noStrike" cap="non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lvl="0"/>
            <a:r>
              <a:rPr lang="ru-RU" sz="2000" dirty="0"/>
              <a:t>Платформы для дистанционного образования и телемедицины</a:t>
            </a:r>
            <a:r>
              <a:rPr lang="ru-RU" sz="1400" dirty="0"/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32;p38">
            <a:extLst>
              <a:ext uri="{FF2B5EF4-FFF2-40B4-BE49-F238E27FC236}">
                <a16:creationId xmlns:a16="http://schemas.microsoft.com/office/drawing/2014/main" id="{F669FBE3-7926-45D0-A1F2-8B23A2830C26}"/>
              </a:ext>
            </a:extLst>
          </p:cNvPr>
          <p:cNvSpPr txBox="1">
            <a:spLocks/>
          </p:cNvSpPr>
          <p:nvPr/>
        </p:nvSpPr>
        <p:spPr>
          <a:xfrm>
            <a:off x="545399" y="2394688"/>
            <a:ext cx="4884294" cy="23716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dirty="0"/>
              <a:t>Информационные технологии предоставляют инструменты для работы с данными как стратегическим активом. Это включает технологии 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сбора, хранения, анализа и защиты информации.</a:t>
            </a:r>
            <a:r>
              <a:rPr lang="ru-RU" dirty="0"/>
              <a:t> Способность среды эффективно управлять большими объемами данных определяет ее </a:t>
            </a:r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ценность и потенциал </a:t>
            </a:r>
            <a:r>
              <a:rPr lang="ru-RU" dirty="0"/>
              <a:t>для развития технологий искусственного интеллекта и аналитики.</a:t>
            </a:r>
          </a:p>
        </p:txBody>
      </p:sp>
      <p:sp>
        <p:nvSpPr>
          <p:cNvPr id="7" name="Google Shape;2334;p63">
            <a:extLst>
              <a:ext uri="{FF2B5EF4-FFF2-40B4-BE49-F238E27FC236}">
                <a16:creationId xmlns:a16="http://schemas.microsoft.com/office/drawing/2014/main" id="{7317DD1E-1DCF-49EA-B1F3-9AF867BA54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5399" y="162169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sz="2400" b="1" dirty="0">
                <a:solidFill>
                  <a:schemeClr val="tx2">
                    <a:lumMod val="25000"/>
                  </a:schemeClr>
                </a:solidFill>
              </a:rPr>
              <a:t>3. Реализация цифровых сервисов </a:t>
            </a:r>
            <a:br>
              <a:rPr lang="ru-RU" sz="2400" b="1" dirty="0">
                <a:solidFill>
                  <a:schemeClr val="tx2">
                    <a:lumMod val="25000"/>
                  </a:schemeClr>
                </a:solidFill>
              </a:rPr>
            </a:br>
            <a:r>
              <a:rPr lang="ru-RU" sz="2400" b="1" dirty="0">
                <a:solidFill>
                  <a:schemeClr val="tx2">
                    <a:lumMod val="25000"/>
                  </a:schemeClr>
                </a:solidFill>
              </a:rPr>
              <a:t>и автоматизация процессов</a:t>
            </a:r>
            <a:endParaRPr lang="ru-RU" sz="2400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048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400" y="3484675"/>
            <a:ext cx="2482225" cy="24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5625" y="-1498297"/>
            <a:ext cx="3999125" cy="383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5"/>
          <p:cNvSpPr/>
          <p:nvPr/>
        </p:nvSpPr>
        <p:spPr>
          <a:xfrm rot="-3636149">
            <a:off x="8329999" y="-337263"/>
            <a:ext cx="1012700" cy="2101424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5"/>
          <p:cNvSpPr/>
          <p:nvPr/>
        </p:nvSpPr>
        <p:spPr>
          <a:xfrm rot="-3636149">
            <a:off x="8184399" y="-84563"/>
            <a:ext cx="1012700" cy="2101424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5"/>
          <p:cNvSpPr txBox="1">
            <a:spLocks noGrp="1"/>
          </p:cNvSpPr>
          <p:nvPr>
            <p:ph type="ctrTitle"/>
          </p:nvPr>
        </p:nvSpPr>
        <p:spPr>
          <a:xfrm>
            <a:off x="715100" y="1238850"/>
            <a:ext cx="61449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sz="3200" b="1" dirty="0"/>
              <a:t>Понятие и состав информационных технологий как элемента цифровой среды</a:t>
            </a:r>
            <a:endParaRPr lang="ru-RU" sz="3200" dirty="0"/>
          </a:p>
        </p:txBody>
      </p:sp>
      <p:sp>
        <p:nvSpPr>
          <p:cNvPr id="286" name="Google Shape;286;p35"/>
          <p:cNvSpPr txBox="1">
            <a:spLocks noGrp="1"/>
          </p:cNvSpPr>
          <p:nvPr>
            <p:ph type="subTitle" idx="1"/>
          </p:nvPr>
        </p:nvSpPr>
        <p:spPr>
          <a:xfrm>
            <a:off x="724800" y="3699210"/>
            <a:ext cx="579042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Морозова Ирина, Корикова Арина, Васильева Дарья</a:t>
            </a:r>
            <a:endParaRPr dirty="0"/>
          </a:p>
        </p:txBody>
      </p:sp>
      <p:cxnSp>
        <p:nvCxnSpPr>
          <p:cNvPr id="287" name="Google Shape;287;p35"/>
          <p:cNvCxnSpPr/>
          <p:nvPr/>
        </p:nvCxnSpPr>
        <p:spPr>
          <a:xfrm>
            <a:off x="724800" y="1144775"/>
            <a:ext cx="615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5"/>
          <p:cNvCxnSpPr/>
          <p:nvPr/>
        </p:nvCxnSpPr>
        <p:spPr>
          <a:xfrm>
            <a:off x="734500" y="3547421"/>
            <a:ext cx="6150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9" name="Google Shape;289;p35"/>
          <p:cNvSpPr/>
          <p:nvPr/>
        </p:nvSpPr>
        <p:spPr>
          <a:xfrm rot="-9036128">
            <a:off x="7072913" y="3056217"/>
            <a:ext cx="817119" cy="1695487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5"/>
          <p:cNvSpPr/>
          <p:nvPr/>
        </p:nvSpPr>
        <p:spPr>
          <a:xfrm rot="-9036128">
            <a:off x="7276782" y="3173681"/>
            <a:ext cx="817119" cy="1695487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1" name="Google Shape;29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5725" y="-1121000"/>
            <a:ext cx="2038350" cy="2076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8836352"/>
      </p:ext>
    </p:extLst>
  </p:cSld>
  <p:clrMapOvr>
    <a:masterClrMapping/>
  </p:clrMapOvr>
</p:sld>
</file>

<file path=ppt/theme/theme1.xml><?xml version="1.0" encoding="utf-8"?>
<a:theme xmlns:a="http://schemas.openxmlformats.org/drawingml/2006/main" name="Aeronautical Engineering Major for College by Slidesgo">
  <a:themeElements>
    <a:clrScheme name="Simple Light">
      <a:dk1>
        <a:srgbClr val="191919"/>
      </a:dk1>
      <a:lt1>
        <a:srgbClr val="FFFFFF"/>
      </a:lt1>
      <a:dk2>
        <a:srgbClr val="29235C"/>
      </a:dk2>
      <a:lt2>
        <a:srgbClr val="C7B0FF"/>
      </a:lt2>
      <a:accent1>
        <a:srgbClr val="00F5FF"/>
      </a:accent1>
      <a:accent2>
        <a:srgbClr val="9EFCE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9235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555</Words>
  <Application>Microsoft Office PowerPoint</Application>
  <PresentationFormat>Экран (16:9)</PresentationFormat>
  <Paragraphs>93</Paragraphs>
  <Slides>25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Russo One</vt:lpstr>
      <vt:lpstr>Arial</vt:lpstr>
      <vt:lpstr>Bebas Neue</vt:lpstr>
      <vt:lpstr>Mallanna</vt:lpstr>
      <vt:lpstr>Times New Roman</vt:lpstr>
      <vt:lpstr>Aeronautical Engineering Major for College by Slidesgo</vt:lpstr>
      <vt:lpstr>Понятие и состав информационных технологий как элемента цифровой среды</vt:lpstr>
      <vt:lpstr>Информационные технологии</vt:lpstr>
      <vt:lpstr>Данные</vt:lpstr>
      <vt:lpstr>Классы информационных технологий</vt:lpstr>
      <vt:lpstr>Понятие цифровой среды</vt:lpstr>
      <vt:lpstr>Аппаратное обеспечение (hardware)</vt:lpstr>
      <vt:lpstr>Системный подход </vt:lpstr>
      <vt:lpstr>Функционирование информационных технологий </vt:lpstr>
      <vt:lpstr>Сбор и ввод данных</vt:lpstr>
      <vt:lpstr>Применение</vt:lpstr>
      <vt:lpstr>Обработка и анализ данных</vt:lpstr>
      <vt:lpstr>Применение</vt:lpstr>
      <vt:lpstr>Хранение и накопление данных</vt:lpstr>
      <vt:lpstr>Применение</vt:lpstr>
      <vt:lpstr>Передача и распространение данных</vt:lpstr>
      <vt:lpstr>Применение</vt:lpstr>
      <vt:lpstr>Представление и визуализация данных</vt:lpstr>
      <vt:lpstr>Применение</vt:lpstr>
      <vt:lpstr>Управление и администрирование</vt:lpstr>
      <vt:lpstr>Применение</vt:lpstr>
      <vt:lpstr>Аппаратно-техническая база</vt:lpstr>
      <vt:lpstr>2. Обеспечение информационного взаимодействия</vt:lpstr>
      <vt:lpstr>3. Реализация цифровых сервисов  и автоматизация процессов</vt:lpstr>
      <vt:lpstr>3. Реализация цифровых сервисов  и автоматизация процессов</vt:lpstr>
      <vt:lpstr>Понятие и состав информационных технологий как элемента цифровой среды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Понятие и состав информационных технологий как элемента цифровой среды</dc:title>
  <dc:creator>Ирина</dc:creator>
  <cp:lastModifiedBy>Ирина</cp:lastModifiedBy>
  <cp:revision>15</cp:revision>
  <dcterms:modified xsi:type="dcterms:W3CDTF">2025-11-25T09:06:19Z</dcterms:modified>
</cp:coreProperties>
</file>